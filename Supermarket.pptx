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84" userDrawn="1">
          <p15:clr>
            <a:srgbClr val="A4A3A4"/>
          </p15:clr>
        </p15:guide>
        <p15:guide id="2" pos="216" userDrawn="1">
          <p15:clr>
            <a:srgbClr val="A4A3A4"/>
          </p15:clr>
        </p15:guide>
        <p15:guide id="3" pos="7464" userDrawn="1">
          <p15:clr>
            <a:srgbClr val="A4A3A4"/>
          </p15:clr>
        </p15:guide>
        <p15:guide id="4" orient="horz" pos="3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D700"/>
    <a:srgbClr val="F0E78C"/>
    <a:srgbClr val="FE6347"/>
    <a:srgbClr val="E33054"/>
    <a:srgbClr val="ECECEC"/>
    <a:srgbClr val="AAAAAA"/>
    <a:srgbClr val="878725"/>
    <a:srgbClr val="5E8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03" autoAdjust="0"/>
    <p:restoredTop sz="94660"/>
  </p:normalViewPr>
  <p:slideViewPr>
    <p:cSldViewPr snapToGrid="0">
      <p:cViewPr>
        <p:scale>
          <a:sx n="100" d="100"/>
          <a:sy n="100" d="100"/>
        </p:scale>
        <p:origin x="1182" y="192"/>
      </p:cViewPr>
      <p:guideLst>
        <p:guide orient="horz" pos="3984"/>
        <p:guide pos="216"/>
        <p:guide pos="7464"/>
        <p:guide orient="horz" pos="3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37161" cy="13716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26D5C1-382E-4A1A-BFFA-0007BCB0E8B2}" type="datetimeFigureOut">
              <a:rPr lang="en-ID" smtClean="0"/>
              <a:t>04/11/2025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9E0F8-8E93-4D54-9376-4E0D789AEE0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88556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9E0F8-8E93-4D54-9376-4E0D789AEE00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06915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D1487-DD4A-28A1-2734-68637123D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58A133-2886-3852-4B28-C045D2416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AC1D2-4846-7296-E10A-9FFC45A67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C334-FC28-40F9-9607-71BE9F246509}" type="datetimeFigureOut">
              <a:rPr lang="en-ID" smtClean="0"/>
              <a:t>03/11/2025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5B83A-ADC2-242E-6585-116DF349F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53086-80B1-0274-FE3D-BD073CCCB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FAACE-C3B2-4BC6-B1AE-8CEE2C87B63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3508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1E69A-1874-7323-8786-49098D17F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F0A31-4B48-7507-BC7E-B23AE9D02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A99E8-FFEC-7535-7803-61C7734D8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C334-FC28-40F9-9607-71BE9F246509}" type="datetimeFigureOut">
              <a:rPr lang="en-ID" smtClean="0"/>
              <a:t>03/11/2025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C1050-6543-EFFD-F232-8BB21D320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751F4-063F-720B-27C4-882DB5A13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FAACE-C3B2-4BC6-B1AE-8CEE2C87B63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04199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0BD5C-C774-4707-29D8-5D23DA951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A757D-862F-65F2-A252-E3AE77944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1D13C-A2FA-CEA7-35B7-60503EC4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C334-FC28-40F9-9607-71BE9F246509}" type="datetimeFigureOut">
              <a:rPr lang="en-ID" smtClean="0"/>
              <a:t>03/11/2025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837B6-F5AB-0364-530B-AA3A108AB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E4AFA-C4C6-B080-ED08-AC0686DCA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FAACE-C3B2-4BC6-B1AE-8CEE2C87B63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18021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E7890-1CD6-4670-7055-EED28E314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83722-D6DD-AEB6-8775-DCF377A2B3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2D2AE0-5B70-E491-F33D-0C4B2374A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BA45F-24E2-D073-904F-CFB2095DB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C334-FC28-40F9-9607-71BE9F246509}" type="datetimeFigureOut">
              <a:rPr lang="en-ID" smtClean="0"/>
              <a:t>03/11/2025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349AE-01F4-78A2-4909-573C75E53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8A4027-5B32-301B-EDCD-4D71D4892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FAACE-C3B2-4BC6-B1AE-8CEE2C87B63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99377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52244-97BB-1D38-6586-117CC15FF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9021B-0AE3-3FB4-6887-8B48632EB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B49BD2-4EDE-7588-3080-2DA3F737A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5E039E-C462-F485-D47C-6CC8C763F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91630A-0452-75B0-E386-114FD0142D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750CA1-9882-DC63-FD32-568CC719E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C334-FC28-40F9-9607-71BE9F246509}" type="datetimeFigureOut">
              <a:rPr lang="en-ID" smtClean="0"/>
              <a:t>03/11/2025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F7B060-B271-D7B9-B1F6-426371CAA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38AF9-E14E-30AD-5ECC-B3A35DD42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FAACE-C3B2-4BC6-B1AE-8CEE2C87B63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817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307-9D31-5B3D-8616-A9208A77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EE652D-6A92-3FCD-401D-F158F1074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C334-FC28-40F9-9607-71BE9F246509}" type="datetimeFigureOut">
              <a:rPr lang="en-ID" smtClean="0"/>
              <a:t>03/11/2025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DCBF35-84A8-8039-F255-BAAB67A19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85817-D4CE-E764-0654-1AEE7AF5D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FAACE-C3B2-4BC6-B1AE-8CEE2C87B63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10388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688EAA-E166-B768-A131-1E245AB30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C334-FC28-40F9-9607-71BE9F246509}" type="datetimeFigureOut">
              <a:rPr lang="en-ID" smtClean="0"/>
              <a:t>03/11/2025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D3B0BE-87DB-52FD-F3E7-700D11D3C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B4E60-E393-A86B-56FD-C357AAE24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FAACE-C3B2-4BC6-B1AE-8CEE2C87B63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16157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411D6-BA33-7A8C-29B7-E587442C3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D9E00-6252-301A-0B96-938A86E93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BDEF4C-8DB1-711C-5650-854128E18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07B3FA-1F47-4833-D51D-645C68B63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C334-FC28-40F9-9607-71BE9F246509}" type="datetimeFigureOut">
              <a:rPr lang="en-ID" smtClean="0"/>
              <a:t>03/11/2025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5EB4C9-F248-43E4-8C30-886879D88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58894-5C63-6737-04B6-3A3ED3404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FAACE-C3B2-4BC6-B1AE-8CEE2C87B63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45258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00FA4-C39F-6A65-1426-F73881C7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1F87A-8FB8-5BB5-486B-E3593EC741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F7404-0B34-5EE7-2F40-209B83BC3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033DBE-DFB8-3287-A8F3-16F88546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C334-FC28-40F9-9607-71BE9F246509}" type="datetimeFigureOut">
              <a:rPr lang="en-ID" smtClean="0"/>
              <a:t>03/11/2025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8B86C-050B-681B-BC9F-C97AA744E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0208D1-2D6D-2ADD-8EBA-99DEF6C73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FAACE-C3B2-4BC6-B1AE-8CEE2C87B63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81627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E0A98-D960-086E-F6E5-B11509828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2128D4-3BF3-2C35-51DA-E67626683A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0D7B6-1D0E-BC5F-2C90-81D9EE339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C334-FC28-40F9-9607-71BE9F246509}" type="datetimeFigureOut">
              <a:rPr lang="en-ID" smtClean="0"/>
              <a:t>03/11/2025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E0E00-31DC-0B6F-2901-E276CDCD8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E14D7-A500-1529-E0CF-BF86C086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FAACE-C3B2-4BC6-B1AE-8CEE2C87B63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49345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5218B4-11E7-C030-9C16-341AF94E9B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9918C6-48B2-7ECF-79B9-45575EC8E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63CDF-72C8-D0F1-28C9-D742924AA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C334-FC28-40F9-9607-71BE9F246509}" type="datetimeFigureOut">
              <a:rPr lang="en-ID" smtClean="0"/>
              <a:t>03/11/2025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DD745-78E4-33B2-81F5-292C1C780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60533-E743-FD80-3663-793AAC9CB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FAACE-C3B2-4BC6-B1AE-8CEE2C87B63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3702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03DCEB-5D28-D6D1-D2CD-425B86889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567331-3D4F-F96B-90BE-41C7B3B3E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5668B-E0C1-4079-9B59-88F3519DEA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92C334-FC28-40F9-9607-71BE9F246509}" type="datetimeFigureOut">
              <a:rPr lang="en-ID" smtClean="0"/>
              <a:t>03/11/2025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0FBE7-23D8-3FA2-84F7-74D4B0162D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4A8E8-68E0-52DE-372F-5E6A8BFC43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EFAACE-C3B2-4BC6-B1AE-8CEE2C87B63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46894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jpeg"/><Relationship Id="rId7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image" Target="../media/image3.jpeg"/><Relationship Id="rId7" Type="http://schemas.openxmlformats.org/officeDocument/2006/relationships/package" Target="../embeddings/Microsoft_Excel_Worksheet1.xlsx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emf"/><Relationship Id="rId5" Type="http://schemas.openxmlformats.org/officeDocument/2006/relationships/package" Target="../embeddings/Microsoft_Excel_Worksheet.xlsx"/><Relationship Id="rId10" Type="http://schemas.openxmlformats.org/officeDocument/2006/relationships/image" Target="../media/image19.emf"/><Relationship Id="rId4" Type="http://schemas.openxmlformats.org/officeDocument/2006/relationships/image" Target="../media/image4.png"/><Relationship Id="rId9" Type="http://schemas.openxmlformats.org/officeDocument/2006/relationships/package" Target="../embeddings/Microsoft_Excel_Worksheet2.xls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loser look into the U.S. consumer's mind - Scanbot SDK">
            <a:extLst>
              <a:ext uri="{FF2B5EF4-FFF2-40B4-BE49-F238E27FC236}">
                <a16:creationId xmlns:a16="http://schemas.microsoft.com/office/drawing/2014/main" id="{47D3F4FF-02E2-703A-15DA-DA0961A01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1858" y="0"/>
            <a:ext cx="9370142" cy="6863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6DA883A-24FF-A05B-78D2-5C45504BEB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7000">
                <a:schemeClr val="bg1">
                  <a:lumMod val="95000"/>
                  <a:alpha val="57000"/>
                </a:schemeClr>
              </a:gs>
              <a:gs pos="45000">
                <a:schemeClr val="bg1">
                  <a:lumMod val="85000"/>
                  <a:alpha val="70000"/>
                </a:schemeClr>
              </a:gs>
              <a:gs pos="63000">
                <a:schemeClr val="bg1">
                  <a:lumMod val="75000"/>
                  <a:alpha val="81000"/>
                </a:schemeClr>
              </a:gs>
              <a:gs pos="85000">
                <a:schemeClr val="bg2">
                  <a:lumMod val="90000"/>
                  <a:alpha val="8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23A691-699B-368D-986B-F21DA5AF8672}"/>
              </a:ext>
            </a:extLst>
          </p:cNvPr>
          <p:cNvSpPr txBox="1"/>
          <p:nvPr/>
        </p:nvSpPr>
        <p:spPr>
          <a:xfrm>
            <a:off x="766916" y="2326265"/>
            <a:ext cx="103730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Supermarket Revenue Growth Strategies </a:t>
            </a:r>
            <a:r>
              <a:rPr lang="en-US" sz="3200" dirty="0"/>
              <a:t>: </a:t>
            </a:r>
            <a:r>
              <a:rPr lang="en-US" sz="320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Redefine Strategy by Evaluating Our Customers</a:t>
            </a:r>
            <a:endParaRPr lang="en-ID" sz="3200" dirty="0">
              <a:latin typeface="Adobe Fangsong Std R" panose="02020400000000000000" pitchFamily="18" charset="-128"/>
              <a:ea typeface="Adobe Fangsong Std R" panose="02020400000000000000" pitchFamily="18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E63DA9-2D4A-22AD-D345-2A3996399AC2}"/>
              </a:ext>
            </a:extLst>
          </p:cNvPr>
          <p:cNvSpPr/>
          <p:nvPr/>
        </p:nvSpPr>
        <p:spPr>
          <a:xfrm>
            <a:off x="2074606" y="3406180"/>
            <a:ext cx="8554065" cy="51034"/>
          </a:xfrm>
          <a:prstGeom prst="rect">
            <a:avLst/>
          </a:prstGeom>
          <a:gradFill flip="none" rotWithShape="1">
            <a:gsLst>
              <a:gs pos="4000">
                <a:schemeClr val="accent2">
                  <a:lumMod val="20000"/>
                  <a:lumOff val="80000"/>
                </a:schemeClr>
              </a:gs>
              <a:gs pos="34000">
                <a:schemeClr val="accent2">
                  <a:lumMod val="60000"/>
                  <a:lumOff val="40000"/>
                </a:schemeClr>
              </a:gs>
              <a:gs pos="62000">
                <a:schemeClr val="accent2"/>
              </a:gs>
              <a:gs pos="87000">
                <a:schemeClr val="accent2">
                  <a:alpha val="94000"/>
                  <a:lumMod val="57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701925-5514-0A60-B085-B470708FF300}"/>
              </a:ext>
            </a:extLst>
          </p:cNvPr>
          <p:cNvSpPr txBox="1"/>
          <p:nvPr/>
        </p:nvSpPr>
        <p:spPr>
          <a:xfrm>
            <a:off x="8475408" y="3429000"/>
            <a:ext cx="2281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Rafif Razaan Ananto</a:t>
            </a:r>
            <a:endParaRPr lang="en-ID" dirty="0">
              <a:latin typeface="Adobe Fangsong Std R" panose="02020400000000000000" pitchFamily="18" charset="-128"/>
              <a:ea typeface="Adobe Fangsong Std 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5820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209E76-60A5-9B2D-D5AB-6C506F93322B}"/>
              </a:ext>
            </a:extLst>
          </p:cNvPr>
          <p:cNvSpPr txBox="1"/>
          <p:nvPr/>
        </p:nvSpPr>
        <p:spPr>
          <a:xfrm>
            <a:off x="985603" y="2420333"/>
            <a:ext cx="3088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</a:rPr>
              <a:t>TABLE OF CONTENTS</a:t>
            </a:r>
            <a:endParaRPr lang="en-ID" sz="2400" b="1" dirty="0">
              <a:solidFill>
                <a:srgbClr val="FFC000"/>
              </a:solidFill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885F038-1F5E-6BAC-5A10-21D496B6E893}"/>
              </a:ext>
            </a:extLst>
          </p:cNvPr>
          <p:cNvSpPr/>
          <p:nvPr/>
        </p:nvSpPr>
        <p:spPr>
          <a:xfrm>
            <a:off x="11236820" y="-267880"/>
            <a:ext cx="1224559" cy="1379290"/>
          </a:xfrm>
          <a:custGeom>
            <a:avLst/>
            <a:gdLst>
              <a:gd name="connsiteX0" fmla="*/ 95024 w 1224559"/>
              <a:gd name="connsiteY0" fmla="*/ 130228 h 1379290"/>
              <a:gd name="connsiteX1" fmla="*/ 55695 w 1224559"/>
              <a:gd name="connsiteY1" fmla="*/ 238383 h 1379290"/>
              <a:gd name="connsiteX2" fmla="*/ 134353 w 1224559"/>
              <a:gd name="connsiteY2" fmla="*/ 612009 h 1379290"/>
              <a:gd name="connsiteX3" fmla="*/ 301501 w 1224559"/>
              <a:gd name="connsiteY3" fmla="*/ 1044628 h 1379290"/>
              <a:gd name="connsiteX4" fmla="*/ 606301 w 1224559"/>
              <a:gd name="connsiteY4" fmla="*/ 1260938 h 1379290"/>
              <a:gd name="connsiteX5" fmla="*/ 1058585 w 1224559"/>
              <a:gd name="connsiteY5" fmla="*/ 1290435 h 1379290"/>
              <a:gd name="connsiteX6" fmla="*/ 1156908 w 1224559"/>
              <a:gd name="connsiteY6" fmla="*/ 81067 h 1379290"/>
              <a:gd name="connsiteX7" fmla="*/ 95024 w 1224559"/>
              <a:gd name="connsiteY7" fmla="*/ 130228 h 137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4559" h="1379290">
                <a:moveTo>
                  <a:pt x="95024" y="130228"/>
                </a:moveTo>
                <a:cubicBezTo>
                  <a:pt x="-88511" y="156447"/>
                  <a:pt x="49140" y="158086"/>
                  <a:pt x="55695" y="238383"/>
                </a:cubicBezTo>
                <a:cubicBezTo>
                  <a:pt x="62250" y="318680"/>
                  <a:pt x="93385" y="477635"/>
                  <a:pt x="134353" y="612009"/>
                </a:cubicBezTo>
                <a:cubicBezTo>
                  <a:pt x="175321" y="746383"/>
                  <a:pt x="222843" y="936473"/>
                  <a:pt x="301501" y="1044628"/>
                </a:cubicBezTo>
                <a:cubicBezTo>
                  <a:pt x="380159" y="1152783"/>
                  <a:pt x="480120" y="1219970"/>
                  <a:pt x="606301" y="1260938"/>
                </a:cubicBezTo>
                <a:cubicBezTo>
                  <a:pt x="732482" y="1301906"/>
                  <a:pt x="966817" y="1487080"/>
                  <a:pt x="1058585" y="1290435"/>
                </a:cubicBezTo>
                <a:cubicBezTo>
                  <a:pt x="1150353" y="1093790"/>
                  <a:pt x="1319140" y="277712"/>
                  <a:pt x="1156908" y="81067"/>
                </a:cubicBezTo>
                <a:cubicBezTo>
                  <a:pt x="994676" y="-115578"/>
                  <a:pt x="278559" y="104009"/>
                  <a:pt x="95024" y="130228"/>
                </a:cubicBezTo>
                <a:close/>
              </a:path>
            </a:pathLst>
          </a:custGeom>
          <a:solidFill>
            <a:srgbClr val="FED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pic>
        <p:nvPicPr>
          <p:cNvPr id="2050" name="Picture 2" descr="grocery store Color Palette">
            <a:extLst>
              <a:ext uri="{FF2B5EF4-FFF2-40B4-BE49-F238E27FC236}">
                <a16:creationId xmlns:a16="http://schemas.microsoft.com/office/drawing/2014/main" id="{2F4EB2C8-A8E8-31D4-5976-B493C108B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6900" y="0"/>
            <a:ext cx="1676400" cy="111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26 Grocery Store Color Palettes">
            <a:extLst>
              <a:ext uri="{FF2B5EF4-FFF2-40B4-BE49-F238E27FC236}">
                <a16:creationId xmlns:a16="http://schemas.microsoft.com/office/drawing/2014/main" id="{5F422CBE-188D-BB79-C7B2-62485ADFF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1225" y="1420972"/>
            <a:ext cx="1616076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hopping Color Palette">
            <a:extLst>
              <a:ext uri="{FF2B5EF4-FFF2-40B4-BE49-F238E27FC236}">
                <a16:creationId xmlns:a16="http://schemas.microsoft.com/office/drawing/2014/main" id="{92C2398C-4B90-C992-3D23-29B7A01EA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10223" y="2430780"/>
            <a:ext cx="1919723" cy="127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2CECFDBE-0235-2233-CF63-3E0168E844B4}"/>
              </a:ext>
            </a:extLst>
          </p:cNvPr>
          <p:cNvGrpSpPr/>
          <p:nvPr/>
        </p:nvGrpSpPr>
        <p:grpSpPr>
          <a:xfrm>
            <a:off x="1145729" y="2976880"/>
            <a:ext cx="9900543" cy="4135120"/>
            <a:chOff x="1178643" y="2976880"/>
            <a:chExt cx="9900543" cy="413512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B240A90-7073-7819-8621-32AD3FBA5538}"/>
                </a:ext>
              </a:extLst>
            </p:cNvPr>
            <p:cNvSpPr/>
            <p:nvPr/>
          </p:nvSpPr>
          <p:spPr>
            <a:xfrm>
              <a:off x="1178644" y="2976880"/>
              <a:ext cx="1919723" cy="4135120"/>
            </a:xfrm>
            <a:prstGeom prst="roundRect">
              <a:avLst/>
            </a:prstGeom>
            <a:solidFill>
              <a:srgbClr val="ECEC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BE1C75A-65F0-AF00-BC15-40131D1DAB72}"/>
                </a:ext>
              </a:extLst>
            </p:cNvPr>
            <p:cNvSpPr/>
            <p:nvPr/>
          </p:nvSpPr>
          <p:spPr>
            <a:xfrm>
              <a:off x="3838917" y="2976880"/>
              <a:ext cx="1919723" cy="4135120"/>
            </a:xfrm>
            <a:prstGeom prst="roundRect">
              <a:avLst/>
            </a:prstGeom>
            <a:solidFill>
              <a:srgbClr val="AAAA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3A5733F-62BC-8E53-20B1-0D3A899DB4BE}"/>
                </a:ext>
              </a:extLst>
            </p:cNvPr>
            <p:cNvSpPr/>
            <p:nvPr/>
          </p:nvSpPr>
          <p:spPr>
            <a:xfrm>
              <a:off x="6499190" y="2976880"/>
              <a:ext cx="1919723" cy="4135120"/>
            </a:xfrm>
            <a:prstGeom prst="roundRect">
              <a:avLst/>
            </a:prstGeom>
            <a:solidFill>
              <a:srgbClr val="ECECEC"/>
            </a:solidFill>
            <a:ln>
              <a:solidFill>
                <a:srgbClr val="ECECE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C6A957D-8160-BFFF-2B4D-BA65D252885A}"/>
                </a:ext>
              </a:extLst>
            </p:cNvPr>
            <p:cNvSpPr/>
            <p:nvPr/>
          </p:nvSpPr>
          <p:spPr>
            <a:xfrm>
              <a:off x="9159463" y="2976880"/>
              <a:ext cx="1919723" cy="4135120"/>
            </a:xfrm>
            <a:prstGeom prst="roundRect">
              <a:avLst/>
            </a:prstGeom>
            <a:solidFill>
              <a:srgbClr val="AAAA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58AE546-6A65-5CFE-5957-0CBF022F3203}"/>
                </a:ext>
              </a:extLst>
            </p:cNvPr>
            <p:cNvSpPr txBox="1"/>
            <p:nvPr/>
          </p:nvSpPr>
          <p:spPr>
            <a:xfrm>
              <a:off x="2637566" y="3038421"/>
              <a:ext cx="3258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</a:t>
              </a:r>
              <a:endParaRPr lang="en-ID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9DBC720-AC18-DEFD-F59A-8D297EAD2A90}"/>
                </a:ext>
              </a:extLst>
            </p:cNvPr>
            <p:cNvSpPr txBox="1"/>
            <p:nvPr/>
          </p:nvSpPr>
          <p:spPr>
            <a:xfrm>
              <a:off x="5324678" y="3038421"/>
              <a:ext cx="3258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  <a:endParaRPr lang="en-ID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BF9125C-2755-8040-B048-2E4FA05CD607}"/>
                </a:ext>
              </a:extLst>
            </p:cNvPr>
            <p:cNvSpPr txBox="1"/>
            <p:nvPr/>
          </p:nvSpPr>
          <p:spPr>
            <a:xfrm>
              <a:off x="7990170" y="3038421"/>
              <a:ext cx="3258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  <a:endParaRPr lang="en-ID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ACCDFD7-6235-F557-1529-C98346B5017B}"/>
                </a:ext>
              </a:extLst>
            </p:cNvPr>
            <p:cNvSpPr txBox="1"/>
            <p:nvPr/>
          </p:nvSpPr>
          <p:spPr>
            <a:xfrm>
              <a:off x="10650443" y="3038421"/>
              <a:ext cx="3258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</a:t>
              </a:r>
              <a:endParaRPr lang="en-ID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3818BE-B978-046F-0FCC-EBF1E0CCF05C}"/>
                </a:ext>
              </a:extLst>
            </p:cNvPr>
            <p:cNvSpPr txBox="1"/>
            <p:nvPr/>
          </p:nvSpPr>
          <p:spPr>
            <a:xfrm>
              <a:off x="1178643" y="3628309"/>
              <a:ext cx="18854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err="1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Pandangan</a:t>
              </a:r>
              <a:r>
                <a:rPr lang="en-US" sz="1400" b="1" dirty="0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 Umum </a:t>
              </a:r>
              <a:r>
                <a:rPr lang="en-US" sz="1400" b="1" dirty="0" err="1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Bisnis</a:t>
              </a:r>
              <a:endParaRPr lang="en-ID" sz="1400" b="1" dirty="0"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561D39D-8C70-0339-0122-CD3DAA415EB7}"/>
                </a:ext>
              </a:extLst>
            </p:cNvPr>
            <p:cNvSpPr txBox="1"/>
            <p:nvPr/>
          </p:nvSpPr>
          <p:spPr>
            <a:xfrm>
              <a:off x="3853604" y="3628309"/>
              <a:ext cx="18854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err="1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Pemahaman</a:t>
              </a:r>
              <a:r>
                <a:rPr lang="en-US" sz="1400" b="1" dirty="0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 dan </a:t>
              </a:r>
              <a:r>
                <a:rPr lang="en-US" sz="1400" b="1" dirty="0" err="1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Rekayasa</a:t>
              </a:r>
              <a:r>
                <a:rPr lang="en-US" sz="1400" b="1" dirty="0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 Data</a:t>
              </a:r>
              <a:endParaRPr lang="en-ID" sz="1400" b="1" dirty="0"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F8D1495-E1AE-1751-B680-D98DF0D91F6F}"/>
                </a:ext>
              </a:extLst>
            </p:cNvPr>
            <p:cNvSpPr txBox="1"/>
            <p:nvPr/>
          </p:nvSpPr>
          <p:spPr>
            <a:xfrm>
              <a:off x="6499190" y="3628309"/>
              <a:ext cx="18854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Exploratory Data Analysis</a:t>
              </a:r>
              <a:endParaRPr lang="en-ID" sz="1400" b="1" dirty="0"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975731C-AC3A-1ABB-B6D3-5A230F491F1E}"/>
                </a:ext>
              </a:extLst>
            </p:cNvPr>
            <p:cNvSpPr txBox="1"/>
            <p:nvPr/>
          </p:nvSpPr>
          <p:spPr>
            <a:xfrm>
              <a:off x="9159463" y="3736030"/>
              <a:ext cx="1885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Closing</a:t>
              </a:r>
              <a:endParaRPr lang="en-ID" sz="1400" b="1" dirty="0"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C8688826-4005-7D62-2F0F-90B4378EF244}"/>
              </a:ext>
            </a:extLst>
          </p:cNvPr>
          <p:cNvSpPr/>
          <p:nvPr/>
        </p:nvSpPr>
        <p:spPr>
          <a:xfrm>
            <a:off x="1145729" y="6065520"/>
            <a:ext cx="977711" cy="7924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262667-9319-690A-4A37-410516042EEA}"/>
              </a:ext>
            </a:extLst>
          </p:cNvPr>
          <p:cNvSpPr/>
          <p:nvPr/>
        </p:nvSpPr>
        <p:spPr>
          <a:xfrm>
            <a:off x="2123440" y="6461760"/>
            <a:ext cx="942013" cy="39624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57000"/>
                </a:schemeClr>
              </a:gs>
              <a:gs pos="86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691DE0-7715-EF89-4E46-B37AFF435668}"/>
              </a:ext>
            </a:extLst>
          </p:cNvPr>
          <p:cNvSpPr/>
          <p:nvPr/>
        </p:nvSpPr>
        <p:spPr>
          <a:xfrm>
            <a:off x="6460524" y="6065520"/>
            <a:ext cx="977711" cy="7924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7FCF72-47F0-F891-30EE-567DEFA91B07}"/>
              </a:ext>
            </a:extLst>
          </p:cNvPr>
          <p:cNvSpPr/>
          <p:nvPr/>
        </p:nvSpPr>
        <p:spPr>
          <a:xfrm>
            <a:off x="7438235" y="6461760"/>
            <a:ext cx="942013" cy="39624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57000"/>
                </a:schemeClr>
              </a:gs>
              <a:gs pos="86000">
                <a:schemeClr val="bg1">
                  <a:lumMod val="8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9ACFC2-0696-8C90-24EF-6ACA31D5062A}"/>
              </a:ext>
            </a:extLst>
          </p:cNvPr>
          <p:cNvSpPr/>
          <p:nvPr/>
        </p:nvSpPr>
        <p:spPr>
          <a:xfrm>
            <a:off x="3811007" y="6033558"/>
            <a:ext cx="977710" cy="79248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890993-B655-96A2-5647-95F20C535D94}"/>
              </a:ext>
            </a:extLst>
          </p:cNvPr>
          <p:cNvSpPr/>
          <p:nvPr/>
        </p:nvSpPr>
        <p:spPr>
          <a:xfrm>
            <a:off x="4777961" y="6429798"/>
            <a:ext cx="942013" cy="39624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57000"/>
                </a:schemeClr>
              </a:gs>
              <a:gs pos="78000">
                <a:schemeClr val="bg2">
                  <a:lumMod val="7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AFF4E1-ED3A-20A3-DF96-1F3BDFBEE673}"/>
              </a:ext>
            </a:extLst>
          </p:cNvPr>
          <p:cNvSpPr/>
          <p:nvPr/>
        </p:nvSpPr>
        <p:spPr>
          <a:xfrm>
            <a:off x="9137303" y="6059593"/>
            <a:ext cx="977710" cy="79248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90412B-AEAD-F8E9-8766-A07A77BB0A99}"/>
              </a:ext>
            </a:extLst>
          </p:cNvPr>
          <p:cNvSpPr/>
          <p:nvPr/>
        </p:nvSpPr>
        <p:spPr>
          <a:xfrm>
            <a:off x="10104257" y="6455833"/>
            <a:ext cx="942013" cy="39624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57000"/>
                </a:schemeClr>
              </a:gs>
              <a:gs pos="78000">
                <a:schemeClr val="bg2">
                  <a:lumMod val="7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EA0297-60BE-CAF8-FC3C-F379B6CB6915}"/>
              </a:ext>
            </a:extLst>
          </p:cNvPr>
          <p:cNvCxnSpPr/>
          <p:nvPr/>
        </p:nvCxnSpPr>
        <p:spPr>
          <a:xfrm>
            <a:off x="1246281" y="4257040"/>
            <a:ext cx="548640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DB497DF-E7C7-3A4F-F636-9BD3B416ECE3}"/>
              </a:ext>
            </a:extLst>
          </p:cNvPr>
          <p:cNvCxnSpPr/>
          <p:nvPr/>
        </p:nvCxnSpPr>
        <p:spPr>
          <a:xfrm>
            <a:off x="6579175" y="4257040"/>
            <a:ext cx="548640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B295A73-546F-FC9F-CB60-6457B889E921}"/>
              </a:ext>
            </a:extLst>
          </p:cNvPr>
          <p:cNvCxnSpPr/>
          <p:nvPr/>
        </p:nvCxnSpPr>
        <p:spPr>
          <a:xfrm>
            <a:off x="3927117" y="4257040"/>
            <a:ext cx="548640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15FABE0-722A-45D9-E8BC-C19FB33F6EA8}"/>
              </a:ext>
            </a:extLst>
          </p:cNvPr>
          <p:cNvCxnSpPr/>
          <p:nvPr/>
        </p:nvCxnSpPr>
        <p:spPr>
          <a:xfrm>
            <a:off x="9242983" y="4257040"/>
            <a:ext cx="548640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63BA322-B162-8B1B-CF36-1328E041C9FC}"/>
              </a:ext>
            </a:extLst>
          </p:cNvPr>
          <p:cNvSpPr txBox="1"/>
          <p:nvPr/>
        </p:nvSpPr>
        <p:spPr>
          <a:xfrm>
            <a:off x="9149341" y="4372084"/>
            <a:ext cx="1684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Kesimpulan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Strategi</a:t>
            </a:r>
            <a:endParaRPr lang="en-ID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BF7556-0A7B-869B-DE10-A33DD85C3B33}"/>
              </a:ext>
            </a:extLst>
          </p:cNvPr>
          <p:cNvSpPr txBox="1"/>
          <p:nvPr/>
        </p:nvSpPr>
        <p:spPr>
          <a:xfrm>
            <a:off x="1246281" y="4351923"/>
            <a:ext cx="1684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Gambaran Umum Industri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Tinjauan</a:t>
            </a:r>
            <a:r>
              <a:rPr lang="en-US" sz="1200" dirty="0"/>
              <a:t> </a:t>
            </a:r>
            <a:r>
              <a:rPr lang="en-US" sz="1200" dirty="0" err="1"/>
              <a:t>Bisnis</a:t>
            </a:r>
            <a:endParaRPr lang="en-ID" sz="1200" dirty="0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110374C4-5F66-55DF-7994-B8B79E6BEE43}"/>
              </a:ext>
            </a:extLst>
          </p:cNvPr>
          <p:cNvSpPr/>
          <p:nvPr/>
        </p:nvSpPr>
        <p:spPr>
          <a:xfrm>
            <a:off x="11968163" y="6634163"/>
            <a:ext cx="223837" cy="223837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  <a:endParaRPr lang="en-ID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07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92753-CB80-6C3F-738B-19A8BEA35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rocery store Color Palette">
            <a:extLst>
              <a:ext uri="{FF2B5EF4-FFF2-40B4-BE49-F238E27FC236}">
                <a16:creationId xmlns:a16="http://schemas.microsoft.com/office/drawing/2014/main" id="{EB271749-6389-DC76-4DBD-9884D8430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6900" y="0"/>
            <a:ext cx="1676400" cy="111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26 Grocery Store Color Palettes">
            <a:extLst>
              <a:ext uri="{FF2B5EF4-FFF2-40B4-BE49-F238E27FC236}">
                <a16:creationId xmlns:a16="http://schemas.microsoft.com/office/drawing/2014/main" id="{F53B3A71-67AC-1278-DD59-31791240D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1225" y="1420972"/>
            <a:ext cx="1616076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hopping Color Palette">
            <a:extLst>
              <a:ext uri="{FF2B5EF4-FFF2-40B4-BE49-F238E27FC236}">
                <a16:creationId xmlns:a16="http://schemas.microsoft.com/office/drawing/2014/main" id="{B7AB8C74-8545-74F6-786E-7AFD80F57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10223" y="2430780"/>
            <a:ext cx="1919723" cy="127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98B088-F08C-E407-9754-B00AB89200E8}"/>
              </a:ext>
            </a:extLst>
          </p:cNvPr>
          <p:cNvSpPr txBox="1"/>
          <p:nvPr/>
        </p:nvSpPr>
        <p:spPr>
          <a:xfrm>
            <a:off x="1142169" y="71735"/>
            <a:ext cx="3793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  <a:highlight>
                  <a:srgbClr val="000000"/>
                </a:highlight>
              </a:rPr>
              <a:t>Gambaran Umum Industri</a:t>
            </a:r>
            <a:endParaRPr lang="en-ID" sz="2400" b="1" dirty="0">
              <a:solidFill>
                <a:srgbClr val="FFC000"/>
              </a:solidFill>
              <a:highlight>
                <a:srgbClr val="000000"/>
              </a:highlight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BC0A09E-249E-3B4D-9E94-E8DA6002BFF6}"/>
              </a:ext>
            </a:extLst>
          </p:cNvPr>
          <p:cNvGrpSpPr/>
          <p:nvPr/>
        </p:nvGrpSpPr>
        <p:grpSpPr>
          <a:xfrm>
            <a:off x="1647190" y="6604000"/>
            <a:ext cx="8897620" cy="254000"/>
            <a:chOff x="894080" y="6604000"/>
            <a:chExt cx="8897620" cy="254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1F0848C-E84D-ED08-16E5-97232A1A2E5D}"/>
                </a:ext>
              </a:extLst>
            </p:cNvPr>
            <p:cNvSpPr/>
            <p:nvPr/>
          </p:nvSpPr>
          <p:spPr>
            <a:xfrm>
              <a:off x="894080" y="6604000"/>
              <a:ext cx="1950720" cy="254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err="1">
                  <a:solidFill>
                    <a:schemeClr val="tx1"/>
                  </a:solidFill>
                </a:rPr>
                <a:t>Pandangan</a:t>
              </a:r>
              <a:r>
                <a:rPr lang="en-US" sz="1200" b="1" dirty="0">
                  <a:solidFill>
                    <a:schemeClr val="tx1"/>
                  </a:solidFill>
                </a:rPr>
                <a:t> Umum </a:t>
              </a:r>
              <a:r>
                <a:rPr lang="en-US" sz="1200" b="1" dirty="0" err="1">
                  <a:solidFill>
                    <a:schemeClr val="tx1"/>
                  </a:solidFill>
                </a:rPr>
                <a:t>Bisnis</a:t>
              </a:r>
              <a:endParaRPr lang="en-ID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8A9C3B9-9FBB-64B6-5C61-3322202BDF35}"/>
                </a:ext>
              </a:extLst>
            </p:cNvPr>
            <p:cNvSpPr/>
            <p:nvPr/>
          </p:nvSpPr>
          <p:spPr>
            <a:xfrm>
              <a:off x="3241887" y="6604000"/>
              <a:ext cx="2420620" cy="254000"/>
            </a:xfrm>
            <a:prstGeom prst="rect">
              <a:avLst/>
            </a:prstGeom>
            <a:solidFill>
              <a:srgbClr val="F0E78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err="1">
                  <a:solidFill>
                    <a:schemeClr val="tx1"/>
                  </a:solidFill>
                </a:rPr>
                <a:t>Pemahaman</a:t>
              </a:r>
              <a:r>
                <a:rPr lang="en-US" sz="1200" b="1" dirty="0">
                  <a:solidFill>
                    <a:schemeClr val="tx1"/>
                  </a:solidFill>
                </a:rPr>
                <a:t> dan </a:t>
              </a:r>
              <a:r>
                <a:rPr lang="en-US" sz="1200" b="1" dirty="0" err="1">
                  <a:solidFill>
                    <a:schemeClr val="tx1"/>
                  </a:solidFill>
                </a:rPr>
                <a:t>Rekayasa</a:t>
              </a:r>
              <a:r>
                <a:rPr lang="en-US" sz="1200" b="1" dirty="0">
                  <a:solidFill>
                    <a:schemeClr val="tx1"/>
                  </a:solidFill>
                </a:rPr>
                <a:t> Data</a:t>
              </a:r>
              <a:endParaRPr lang="en-ID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27694A1-2FF6-92AB-E9B3-C9192855DE96}"/>
                </a:ext>
              </a:extLst>
            </p:cNvPr>
            <p:cNvSpPr/>
            <p:nvPr/>
          </p:nvSpPr>
          <p:spPr>
            <a:xfrm>
              <a:off x="6059594" y="6604000"/>
              <a:ext cx="2420620" cy="254000"/>
            </a:xfrm>
            <a:prstGeom prst="rect">
              <a:avLst/>
            </a:prstGeom>
            <a:solidFill>
              <a:srgbClr val="F0E78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Exploratory Data Analysis</a:t>
              </a:r>
              <a:endParaRPr lang="en-ID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F445C16-6957-B08E-7653-4AA9B5F95DE3}"/>
                </a:ext>
              </a:extLst>
            </p:cNvPr>
            <p:cNvSpPr/>
            <p:nvPr/>
          </p:nvSpPr>
          <p:spPr>
            <a:xfrm>
              <a:off x="8877300" y="6604000"/>
              <a:ext cx="914400" cy="254000"/>
            </a:xfrm>
            <a:prstGeom prst="rect">
              <a:avLst/>
            </a:prstGeom>
            <a:solidFill>
              <a:srgbClr val="F0E78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Closing</a:t>
              </a:r>
              <a:endParaRPr lang="en-ID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70" name="Group 2069">
            <a:extLst>
              <a:ext uri="{FF2B5EF4-FFF2-40B4-BE49-F238E27FC236}">
                <a16:creationId xmlns:a16="http://schemas.microsoft.com/office/drawing/2014/main" id="{283F7F88-FBCA-B986-6786-485013CCF2D8}"/>
              </a:ext>
            </a:extLst>
          </p:cNvPr>
          <p:cNvGrpSpPr/>
          <p:nvPr/>
        </p:nvGrpSpPr>
        <p:grpSpPr>
          <a:xfrm>
            <a:off x="342900" y="533400"/>
            <a:ext cx="11465154" cy="5528662"/>
            <a:chOff x="342900" y="533400"/>
            <a:chExt cx="11465154" cy="5528662"/>
          </a:xfrm>
        </p:grpSpPr>
        <p:grpSp>
          <p:nvGrpSpPr>
            <p:cNvPr id="2065" name="Group 2064">
              <a:extLst>
                <a:ext uri="{FF2B5EF4-FFF2-40B4-BE49-F238E27FC236}">
                  <a16:creationId xmlns:a16="http://schemas.microsoft.com/office/drawing/2014/main" id="{B5BCE3FA-2A5D-5966-3855-6D501D975BD5}"/>
                </a:ext>
              </a:extLst>
            </p:cNvPr>
            <p:cNvGrpSpPr/>
            <p:nvPr/>
          </p:nvGrpSpPr>
          <p:grpSpPr>
            <a:xfrm>
              <a:off x="342900" y="533400"/>
              <a:ext cx="11465154" cy="5528662"/>
              <a:chOff x="342900" y="533400"/>
              <a:chExt cx="11465154" cy="5528662"/>
            </a:xfrm>
          </p:grpSpPr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D50FBAD5-C995-1FB1-E7D6-3B9EAA5D75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2900" y="616336"/>
                <a:ext cx="2340610" cy="2340610"/>
              </a:xfrm>
              <a:prstGeom prst="rect">
                <a:avLst/>
              </a:prstGeom>
            </p:spPr>
          </p:pic>
          <p:pic>
            <p:nvPicPr>
              <p:cNvPr id="3080" name="Picture 8" descr="Food processing Good manufacturing practice Technology Factory, food  processing, food, investment png | PNGEgg">
                <a:extLst>
                  <a:ext uri="{FF2B5EF4-FFF2-40B4-BE49-F238E27FC236}">
                    <a16:creationId xmlns:a16="http://schemas.microsoft.com/office/drawing/2014/main" id="{D334BAD2-229E-0F9D-7886-10E8E70C14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4348" b="89967" l="4310" r="89943">
                            <a14:foregroundMark x1="27839" y1="28425" x2="23035" y2="25084"/>
                            <a14:foregroundMark x1="35057" y1="33445" x2="31545" y2="31002"/>
                            <a14:foregroundMark x1="31305" y1="7533" x2="31416" y2="7480"/>
                            <a14:foregroundMark x1="38343" y1="27695" x2="36207" y2="32441"/>
                            <a14:foregroundMark x1="18678" y1="37458" x2="21552" y2="37793"/>
                            <a14:foregroundMark x1="34770" y1="41806" x2="33046" y2="40134"/>
                            <a14:foregroundMark x1="4470" y1="61873" x2="4310" y2="62542"/>
                            <a14:foregroundMark x1="10057" y1="38462" x2="4470" y2="61873"/>
                            <a14:foregroundMark x1="4749" y1="63211" x2="11782" y2="73913"/>
                            <a14:foregroundMark x1="4529" y1="62876" x2="4749" y2="63211"/>
                            <a14:foregroundMark x1="4310" y1="62542" x2="4529" y2="62876"/>
                            <a14:foregroundMark x1="22126" y1="30769" x2="21958" y2="25084"/>
                            <a14:foregroundMark x1="25419" y1="29097" x2="25507" y2="29500"/>
                            <a14:foregroundMark x1="25346" y1="28763" x2="25419" y2="29097"/>
                            <a14:foregroundMark x1="25273" y1="28428" x2="25346" y2="28763"/>
                            <a14:foregroundMark x1="24544" y1="25084" x2="25273" y2="28428"/>
                            <a14:foregroundMark x1="33374" y1="26003" x2="33496" y2="23722"/>
                            <a14:foregroundMark x1="33046" y1="32107" x2="33181" y2="29608"/>
                            <a14:foregroundMark x1="37483" y1="27375" x2="38218" y2="31104"/>
                            <a14:foregroundMark x1="20690" y1="30100" x2="22414" y2="13378"/>
                            <a14:foregroundMark x1="22414" y1="13378" x2="27299" y2="30769"/>
                            <a14:foregroundMark x1="25575" y1="14716" x2="24425" y2="10033"/>
                            <a14:foregroundMark x1="23563" y1="10033" x2="22989" y2="12709"/>
                            <a14:foregroundMark x1="25575" y1="8027" x2="25575" y2="8027"/>
                            <a14:foregroundMark x1="25862" y1="9365" x2="25862" y2="9365"/>
                            <a14:foregroundMark x1="26149" y1="10702" x2="26149" y2="10702"/>
                            <a14:foregroundMark x1="25862" y1="8696" x2="25862" y2="8696"/>
                            <a14:foregroundMark x1="26149" y1="9030" x2="26149" y2="9030"/>
                            <a14:foregroundMark x1="26437" y1="10368" x2="26437" y2="10368"/>
                            <a14:foregroundMark x1="26437" y1="12709" x2="26437" y2="12709"/>
                            <a14:foregroundMark x1="26437" y1="11037" x2="26437" y2="11037"/>
                            <a14:foregroundMark x1="26437" y1="10033" x2="26437" y2="10033"/>
                            <a14:foregroundMark x1="26437" y1="9365" x2="26437" y2="9365"/>
                            <a14:foregroundMark x1="25000" y1="7358" x2="26437" y2="10702"/>
                            <a14:foregroundMark x1="32471" y1="25418" x2="37069" y2="23411"/>
                            <a14:foregroundMark x1="36494" y1="24415" x2="35920" y2="16054"/>
                            <a14:foregroundMark x1="35345" y1="14047" x2="34770" y2="22074"/>
                            <a14:foregroundMark x1="35057" y1="15050" x2="35057" y2="10368"/>
                            <a14:foregroundMark x1="34483" y1="10368" x2="33908" y2="13378"/>
                            <a14:foregroundMark x1="33908" y1="14381" x2="34195" y2="10368"/>
                            <a14:foregroundMark x1="34195" y1="9365" x2="33333" y2="14381"/>
                            <a14:foregroundMark x1="35920" y1="10033" x2="38218" y2="28763"/>
                            <a14:backgroundMark x1="20977" y1="12136" x2="20977" y2="13907"/>
                            <a14:backgroundMark x1="15805" y1="13378" x2="12069" y2="21739"/>
                            <a14:backgroundMark x1="14080" y1="17726" x2="14368" y2="19064"/>
                            <a14:backgroundMark x1="4310" y1="61873" x2="4310" y2="61873"/>
                            <a14:backgroundMark x1="4310" y1="62876" x2="4310" y2="62876"/>
                            <a14:backgroundMark x1="4310" y1="63211" x2="4310" y2="63211"/>
                            <a14:backgroundMark x1="27503" y1="13997" x2="29310" y2="23746"/>
                            <a14:backgroundMark x1="26893" y1="10702" x2="26948" y2="10999"/>
                            <a14:backgroundMark x1="26852" y1="10479" x2="26893" y2="10702"/>
                            <a14:backgroundMark x1="29487" y1="20253" x2="29824" y2="13575"/>
                            <a14:backgroundMark x1="29023" y1="31438" x2="28685" y2="30259"/>
                            <a14:backgroundMark x1="30380" y1="29636" x2="30460" y2="30100"/>
                            <a14:backgroundMark x1="30268" y1="30448" x2="31034" y2="31438"/>
                            <a14:backgroundMark x1="29804" y1="29848" x2="30245" y2="30417"/>
                            <a14:backgroundMark x1="31322" y1="31438" x2="31322" y2="30769"/>
                            <a14:backgroundMark x1="33575" y1="6483" x2="32184" y2="7023"/>
                            <a14:backgroundMark x1="35496" y1="5739" x2="33955" y2="6336"/>
                            <a14:backgroundMark x1="37356" y1="5017" x2="35663" y2="5674"/>
                            <a14:backgroundMark x1="32471" y1="6689" x2="31322" y2="7358"/>
                            <a14:backgroundMark x1="39368" y1="4348" x2="37644" y2="5686"/>
                            <a14:backgroundMark x1="37644" y1="4682" x2="37975" y2="9694"/>
                            <a14:backgroundMark x1="31322" y1="8361" x2="31035" y2="8027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42630" y="4305940"/>
                <a:ext cx="2043914" cy="17561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EF364804-37A8-585D-4BBD-5FF02E4CD200}"/>
                  </a:ext>
                </a:extLst>
              </p:cNvPr>
              <p:cNvSpPr/>
              <p:nvPr/>
            </p:nvSpPr>
            <p:spPr>
              <a:xfrm>
                <a:off x="1371600" y="2674843"/>
                <a:ext cx="1091148" cy="1631097"/>
              </a:xfrm>
              <a:custGeom>
                <a:avLst/>
                <a:gdLst>
                  <a:gd name="connsiteX0" fmla="*/ 99271 w 1245900"/>
                  <a:gd name="connsiteY0" fmla="*/ 0 h 1876436"/>
                  <a:gd name="connsiteX1" fmla="*/ 113785 w 1245900"/>
                  <a:gd name="connsiteY1" fmla="*/ 1596571 h 1876436"/>
                  <a:gd name="connsiteX2" fmla="*/ 1245900 w 1245900"/>
                  <a:gd name="connsiteY2" fmla="*/ 1872343 h 1876436"/>
                  <a:gd name="connsiteX0" fmla="*/ 99271 w 1245900"/>
                  <a:gd name="connsiteY0" fmla="*/ 0 h 1888926"/>
                  <a:gd name="connsiteX1" fmla="*/ 113785 w 1245900"/>
                  <a:gd name="connsiteY1" fmla="*/ 1654628 h 1888926"/>
                  <a:gd name="connsiteX2" fmla="*/ 1245900 w 1245900"/>
                  <a:gd name="connsiteY2" fmla="*/ 1872343 h 1888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45900" h="1888926">
                    <a:moveTo>
                      <a:pt x="99271" y="0"/>
                    </a:moveTo>
                    <a:cubicBezTo>
                      <a:pt x="10975" y="642257"/>
                      <a:pt x="-77320" y="1342571"/>
                      <a:pt x="113785" y="1654628"/>
                    </a:cubicBezTo>
                    <a:cubicBezTo>
                      <a:pt x="304890" y="1966685"/>
                      <a:pt x="1006414" y="1879600"/>
                      <a:pt x="1245900" y="1872343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52" name="Flowchart: Connector 51">
                <a:extLst>
                  <a:ext uri="{FF2B5EF4-FFF2-40B4-BE49-F238E27FC236}">
                    <a16:creationId xmlns:a16="http://schemas.microsoft.com/office/drawing/2014/main" id="{FCA734B7-3541-7EBF-D936-8A51D79524E0}"/>
                  </a:ext>
                </a:extLst>
              </p:cNvPr>
              <p:cNvSpPr/>
              <p:nvPr/>
            </p:nvSpPr>
            <p:spPr>
              <a:xfrm>
                <a:off x="2523400" y="4052160"/>
                <a:ext cx="461665" cy="461665"/>
              </a:xfrm>
              <a:prstGeom prst="flowChartConnector">
                <a:avLst/>
              </a:prstGeom>
              <a:solidFill>
                <a:srgbClr val="E3305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2</a:t>
                </a:r>
                <a:endParaRPr lang="en-ID" b="1" dirty="0"/>
              </a:p>
            </p:txBody>
          </p:sp>
          <p:sp>
            <p:nvSpPr>
              <p:cNvPr id="53" name="Flowchart: Connector 52">
                <a:extLst>
                  <a:ext uri="{FF2B5EF4-FFF2-40B4-BE49-F238E27FC236}">
                    <a16:creationId xmlns:a16="http://schemas.microsoft.com/office/drawing/2014/main" id="{BBD28433-5F0B-DC1E-18C7-3167D42B2CD6}"/>
                  </a:ext>
                </a:extLst>
              </p:cNvPr>
              <p:cNvSpPr/>
              <p:nvPr/>
            </p:nvSpPr>
            <p:spPr>
              <a:xfrm>
                <a:off x="1282372" y="533400"/>
                <a:ext cx="461665" cy="461665"/>
              </a:xfrm>
              <a:prstGeom prst="flowChartConnector">
                <a:avLst/>
              </a:prstGeom>
              <a:solidFill>
                <a:srgbClr val="E3305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1</a:t>
                </a:r>
                <a:endParaRPr lang="en-ID" b="1" dirty="0"/>
              </a:p>
            </p:txBody>
          </p:sp>
          <p:pic>
            <p:nvPicPr>
              <p:cNvPr id="3082" name="Picture 10">
                <a:extLst>
                  <a:ext uri="{FF2B5EF4-FFF2-40B4-BE49-F238E27FC236}">
                    <a16:creationId xmlns:a16="http://schemas.microsoft.com/office/drawing/2014/main" id="{6F89F34E-EEB5-D4EA-A6BF-CE8C5171A50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82864" y="922494"/>
                <a:ext cx="1885146" cy="14147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F8F41C7-8EA1-956C-73EC-E7D80CAC11C4}"/>
                  </a:ext>
                </a:extLst>
              </p:cNvPr>
              <p:cNvSpPr txBox="1"/>
              <p:nvPr/>
            </p:nvSpPr>
            <p:spPr>
              <a:xfrm>
                <a:off x="1714183" y="614717"/>
                <a:ext cx="160813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Adobe Gothic Std B" panose="020B0800000000000000" pitchFamily="34" charset="-128"/>
                    <a:ea typeface="Adobe Gothic Std B" panose="020B0800000000000000" pitchFamily="34" charset="-128"/>
                  </a:rPr>
                  <a:t>Raw Material</a:t>
                </a:r>
                <a:endParaRPr lang="en-ID" sz="1400" dirty="0">
                  <a:latin typeface="Adobe Gothic Std B" panose="020B0800000000000000" pitchFamily="34" charset="-128"/>
                  <a:ea typeface="Adobe Gothic Std B" panose="020B0800000000000000" pitchFamily="34" charset="-128"/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3A92B8A-1921-A1A2-06DD-69FEA1A0C5B9}"/>
                  </a:ext>
                </a:extLst>
              </p:cNvPr>
              <p:cNvSpPr txBox="1"/>
              <p:nvPr/>
            </p:nvSpPr>
            <p:spPr>
              <a:xfrm>
                <a:off x="2914342" y="4129103"/>
                <a:ext cx="188514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Adobe Gothic Std B" panose="020B0800000000000000" pitchFamily="34" charset="-128"/>
                    <a:ea typeface="Adobe Gothic Std B" panose="020B0800000000000000" pitchFamily="34" charset="-128"/>
                  </a:rPr>
                  <a:t>Food Manufacturer</a:t>
                </a:r>
                <a:endParaRPr lang="en-ID" sz="1400" dirty="0">
                  <a:latin typeface="Adobe Gothic Std B" panose="020B0800000000000000" pitchFamily="34" charset="-128"/>
                  <a:ea typeface="Adobe Gothic Std B" panose="020B0800000000000000" pitchFamily="34" charset="-128"/>
                </a:endParaRPr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94C9B05F-987B-D85B-4F3D-F144B0DC8DF7}"/>
                  </a:ext>
                </a:extLst>
              </p:cNvPr>
              <p:cNvSpPr/>
              <p:nvPr/>
            </p:nvSpPr>
            <p:spPr>
              <a:xfrm>
                <a:off x="3322321" y="2381345"/>
                <a:ext cx="1151422" cy="1715153"/>
              </a:xfrm>
              <a:custGeom>
                <a:avLst/>
                <a:gdLst>
                  <a:gd name="connsiteX0" fmla="*/ 60701 w 771901"/>
                  <a:gd name="connsiteY0" fmla="*/ 1615931 h 1615931"/>
                  <a:gd name="connsiteX1" fmla="*/ 70861 w 771901"/>
                  <a:gd name="connsiteY1" fmla="*/ 264651 h 1615931"/>
                  <a:gd name="connsiteX2" fmla="*/ 771901 w 771901"/>
                  <a:gd name="connsiteY2" fmla="*/ 491 h 1615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71901" h="1615931">
                    <a:moveTo>
                      <a:pt x="60701" y="1615931"/>
                    </a:moveTo>
                    <a:cubicBezTo>
                      <a:pt x="6514" y="1074911"/>
                      <a:pt x="-47672" y="533891"/>
                      <a:pt x="70861" y="264651"/>
                    </a:cubicBezTo>
                    <a:cubicBezTo>
                      <a:pt x="189394" y="-4589"/>
                      <a:pt x="480647" y="-2049"/>
                      <a:pt x="771901" y="491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2048" name="Flowchart: Connector 2047">
                <a:extLst>
                  <a:ext uri="{FF2B5EF4-FFF2-40B4-BE49-F238E27FC236}">
                    <a16:creationId xmlns:a16="http://schemas.microsoft.com/office/drawing/2014/main" id="{FD9261DC-59A1-AB3D-B990-E43C4771F935}"/>
                  </a:ext>
                </a:extLst>
              </p:cNvPr>
              <p:cNvSpPr/>
              <p:nvPr/>
            </p:nvSpPr>
            <p:spPr>
              <a:xfrm>
                <a:off x="4521199" y="2168939"/>
                <a:ext cx="461665" cy="461665"/>
              </a:xfrm>
              <a:prstGeom prst="flowChartConnector">
                <a:avLst/>
              </a:prstGeom>
              <a:solidFill>
                <a:srgbClr val="E3305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3</a:t>
                </a:r>
                <a:endParaRPr lang="en-ID" b="1" dirty="0"/>
              </a:p>
            </p:txBody>
          </p:sp>
          <p:sp>
            <p:nvSpPr>
              <p:cNvPr id="2049" name="TextBox 2048">
                <a:extLst>
                  <a:ext uri="{FF2B5EF4-FFF2-40B4-BE49-F238E27FC236}">
                    <a16:creationId xmlns:a16="http://schemas.microsoft.com/office/drawing/2014/main" id="{33E2DA21-5EEA-A4B1-EC3B-5F51181134CB}"/>
                  </a:ext>
                </a:extLst>
              </p:cNvPr>
              <p:cNvSpPr txBox="1"/>
              <p:nvPr/>
            </p:nvSpPr>
            <p:spPr>
              <a:xfrm>
                <a:off x="4935407" y="2235050"/>
                <a:ext cx="188514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Adobe Gothic Std B" panose="020B0800000000000000" pitchFamily="34" charset="-128"/>
                    <a:ea typeface="Adobe Gothic Std B" panose="020B0800000000000000" pitchFamily="34" charset="-128"/>
                  </a:rPr>
                  <a:t>Distribution Center</a:t>
                </a:r>
                <a:endParaRPr lang="en-ID" sz="1400" dirty="0">
                  <a:latin typeface="Adobe Gothic Std B" panose="020B0800000000000000" pitchFamily="34" charset="-128"/>
                  <a:ea typeface="Adobe Gothic Std B" panose="020B0800000000000000" pitchFamily="34" charset="-128"/>
                </a:endParaRPr>
              </a:p>
            </p:txBody>
          </p:sp>
          <p:pic>
            <p:nvPicPr>
              <p:cNvPr id="2051" name="Picture 2050">
                <a:extLst>
                  <a:ext uri="{FF2B5EF4-FFF2-40B4-BE49-F238E27FC236}">
                    <a16:creationId xmlns:a16="http://schemas.microsoft.com/office/drawing/2014/main" id="{9737649D-3C05-E8A5-1ED6-5A281D3171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flipH="1">
                <a:off x="6140027" y="3708252"/>
                <a:ext cx="1746515" cy="1537526"/>
              </a:xfrm>
              <a:prstGeom prst="rect">
                <a:avLst/>
              </a:prstGeom>
            </p:spPr>
          </p:pic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DBB61B3E-EDA4-CD62-C06F-416F257E2335}"/>
                  </a:ext>
                </a:extLst>
              </p:cNvPr>
              <p:cNvSpPr/>
              <p:nvPr/>
            </p:nvSpPr>
            <p:spPr>
              <a:xfrm>
                <a:off x="5540681" y="2554066"/>
                <a:ext cx="996433" cy="1391920"/>
              </a:xfrm>
              <a:custGeom>
                <a:avLst/>
                <a:gdLst>
                  <a:gd name="connsiteX0" fmla="*/ 96849 w 1021409"/>
                  <a:gd name="connsiteY0" fmla="*/ 0 h 1269639"/>
                  <a:gd name="connsiteX1" fmla="*/ 86689 w 1021409"/>
                  <a:gd name="connsiteY1" fmla="*/ 1209040 h 1269639"/>
                  <a:gd name="connsiteX2" fmla="*/ 1021409 w 1021409"/>
                  <a:gd name="connsiteY2" fmla="*/ 1076960 h 1269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21409" h="1269639">
                    <a:moveTo>
                      <a:pt x="96849" y="0"/>
                    </a:moveTo>
                    <a:cubicBezTo>
                      <a:pt x="14722" y="514773"/>
                      <a:pt x="-67404" y="1029547"/>
                      <a:pt x="86689" y="1209040"/>
                    </a:cubicBezTo>
                    <a:cubicBezTo>
                      <a:pt x="240782" y="1388533"/>
                      <a:pt x="789422" y="1115907"/>
                      <a:pt x="1021409" y="107696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2055" name="Flowchart: Connector 2054">
                <a:extLst>
                  <a:ext uri="{FF2B5EF4-FFF2-40B4-BE49-F238E27FC236}">
                    <a16:creationId xmlns:a16="http://schemas.microsoft.com/office/drawing/2014/main" id="{8B33A122-E5C3-5E64-DBFC-48986F3C5BE1}"/>
                  </a:ext>
                </a:extLst>
              </p:cNvPr>
              <p:cNvSpPr/>
              <p:nvPr/>
            </p:nvSpPr>
            <p:spPr>
              <a:xfrm>
                <a:off x="6551619" y="3356228"/>
                <a:ext cx="461665" cy="461665"/>
              </a:xfrm>
              <a:prstGeom prst="flowChartConnector">
                <a:avLst/>
              </a:prstGeom>
              <a:solidFill>
                <a:srgbClr val="E3305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4</a:t>
                </a:r>
                <a:endParaRPr lang="en-ID" b="1" dirty="0"/>
              </a:p>
            </p:txBody>
          </p:sp>
          <p:sp>
            <p:nvSpPr>
              <p:cNvPr id="2056" name="TextBox 2055">
                <a:extLst>
                  <a:ext uri="{FF2B5EF4-FFF2-40B4-BE49-F238E27FC236}">
                    <a16:creationId xmlns:a16="http://schemas.microsoft.com/office/drawing/2014/main" id="{C8DA2750-068F-61A9-8D4D-79505ED4375F}"/>
                  </a:ext>
                </a:extLst>
              </p:cNvPr>
              <p:cNvSpPr txBox="1"/>
              <p:nvPr/>
            </p:nvSpPr>
            <p:spPr>
              <a:xfrm>
                <a:off x="6935971" y="3430021"/>
                <a:ext cx="9505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Adobe Gothic Std B" panose="020B0800000000000000" pitchFamily="34" charset="-128"/>
                    <a:ea typeface="Adobe Gothic Std B" panose="020B0800000000000000" pitchFamily="34" charset="-128"/>
                  </a:rPr>
                  <a:t>Logistic</a:t>
                </a:r>
                <a:endParaRPr lang="en-ID" sz="1400" dirty="0">
                  <a:latin typeface="Adobe Gothic Std B" panose="020B0800000000000000" pitchFamily="34" charset="-128"/>
                  <a:ea typeface="Adobe Gothic Std B" panose="020B0800000000000000" pitchFamily="34" charset="-128"/>
                </a:endParaRPr>
              </a:p>
            </p:txBody>
          </p:sp>
          <p:pic>
            <p:nvPicPr>
              <p:cNvPr id="2058" name="Picture 2057">
                <a:extLst>
                  <a:ext uri="{FF2B5EF4-FFF2-40B4-BE49-F238E27FC236}">
                    <a16:creationId xmlns:a16="http://schemas.microsoft.com/office/drawing/2014/main" id="{BA8D6D71-A599-DE77-87EE-B5A414027B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51771" y="1057178"/>
                <a:ext cx="2105305" cy="2105305"/>
              </a:xfrm>
              <a:prstGeom prst="rect">
                <a:avLst/>
              </a:prstGeom>
            </p:spPr>
          </p:pic>
          <p:sp>
            <p:nvSpPr>
              <p:cNvPr id="2059" name="Flowchart: Connector 2058">
                <a:extLst>
                  <a:ext uri="{FF2B5EF4-FFF2-40B4-BE49-F238E27FC236}">
                    <a16:creationId xmlns:a16="http://schemas.microsoft.com/office/drawing/2014/main" id="{0F8359F4-BE66-B071-8B6A-089C8D1F1D70}"/>
                  </a:ext>
                </a:extLst>
              </p:cNvPr>
              <p:cNvSpPr/>
              <p:nvPr/>
            </p:nvSpPr>
            <p:spPr>
              <a:xfrm>
                <a:off x="8014970" y="1006337"/>
                <a:ext cx="461665" cy="461665"/>
              </a:xfrm>
              <a:prstGeom prst="flowChartConnector">
                <a:avLst/>
              </a:prstGeom>
              <a:solidFill>
                <a:srgbClr val="E3305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5</a:t>
                </a:r>
                <a:endParaRPr lang="en-ID" b="1" dirty="0"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157028BB-6EAA-CE34-D7BA-D53C516EB119}"/>
                  </a:ext>
                </a:extLst>
              </p:cNvPr>
              <p:cNvSpPr/>
              <p:nvPr/>
            </p:nvSpPr>
            <p:spPr>
              <a:xfrm>
                <a:off x="7234046" y="1068823"/>
                <a:ext cx="780924" cy="2318363"/>
              </a:xfrm>
              <a:custGeom>
                <a:avLst/>
                <a:gdLst>
                  <a:gd name="connsiteX0" fmla="*/ 29084 w 780924"/>
                  <a:gd name="connsiteY0" fmla="*/ 2318363 h 2318363"/>
                  <a:gd name="connsiteX1" fmla="*/ 90044 w 780924"/>
                  <a:gd name="connsiteY1" fmla="*/ 316843 h 2318363"/>
                  <a:gd name="connsiteX2" fmla="*/ 780924 w 780924"/>
                  <a:gd name="connsiteY2" fmla="*/ 32363 h 23183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80924" h="2318363">
                    <a:moveTo>
                      <a:pt x="29084" y="2318363"/>
                    </a:moveTo>
                    <a:cubicBezTo>
                      <a:pt x="-3090" y="1508103"/>
                      <a:pt x="-35263" y="697843"/>
                      <a:pt x="90044" y="316843"/>
                    </a:cubicBezTo>
                    <a:cubicBezTo>
                      <a:pt x="215351" y="-64157"/>
                      <a:pt x="498137" y="-15897"/>
                      <a:pt x="780924" y="32363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2061" name="TextBox 2060">
                <a:extLst>
                  <a:ext uri="{FF2B5EF4-FFF2-40B4-BE49-F238E27FC236}">
                    <a16:creationId xmlns:a16="http://schemas.microsoft.com/office/drawing/2014/main" id="{277D3D7C-606E-C6CF-1E6F-033F90F39EEA}"/>
                  </a:ext>
                </a:extLst>
              </p:cNvPr>
              <p:cNvSpPr txBox="1"/>
              <p:nvPr/>
            </p:nvSpPr>
            <p:spPr>
              <a:xfrm>
                <a:off x="8412247" y="1097225"/>
                <a:ext cx="188514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highlight>
                      <a:srgbClr val="FED700"/>
                    </a:highlight>
                    <a:latin typeface="Adobe Gothic Std B" panose="020B0800000000000000" pitchFamily="34" charset="-128"/>
                    <a:ea typeface="Adobe Gothic Std B" panose="020B0800000000000000" pitchFamily="34" charset="-128"/>
                  </a:rPr>
                  <a:t>Supermarket</a:t>
                </a:r>
                <a:endParaRPr lang="en-ID" sz="1400" dirty="0">
                  <a:highlight>
                    <a:srgbClr val="FED700"/>
                  </a:highlight>
                  <a:latin typeface="Adobe Gothic Std B" panose="020B0800000000000000" pitchFamily="34" charset="-128"/>
                  <a:ea typeface="Adobe Gothic Std B" panose="020B0800000000000000" pitchFamily="34" charset="-128"/>
                </a:endParaRPr>
              </a:p>
            </p:txBody>
          </p:sp>
          <p:pic>
            <p:nvPicPr>
              <p:cNvPr id="3086" name="Picture 14" descr="Shop Assistant Handling Shopping Bag To Female Customer In Grocery Store  Illustration - Free Download People Illustrations | IconScout">
                <a:extLst>
                  <a:ext uri="{FF2B5EF4-FFF2-40B4-BE49-F238E27FC236}">
                    <a16:creationId xmlns:a16="http://schemas.microsoft.com/office/drawing/2014/main" id="{0EBE63EB-2ED0-A4C8-F03A-2D563E65F2F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80301" y="4052160"/>
                <a:ext cx="2634184" cy="17561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62" name="Flowchart: Connector 2061">
                <a:extLst>
                  <a:ext uri="{FF2B5EF4-FFF2-40B4-BE49-F238E27FC236}">
                    <a16:creationId xmlns:a16="http://schemas.microsoft.com/office/drawing/2014/main" id="{82FE1D31-11B3-3067-832A-23CB18E56834}"/>
                  </a:ext>
                </a:extLst>
              </p:cNvPr>
              <p:cNvSpPr/>
              <p:nvPr/>
            </p:nvSpPr>
            <p:spPr>
              <a:xfrm>
                <a:off x="9461243" y="3673603"/>
                <a:ext cx="461665" cy="461665"/>
              </a:xfrm>
              <a:prstGeom prst="flowChartConnector">
                <a:avLst/>
              </a:prstGeom>
              <a:solidFill>
                <a:srgbClr val="E3305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6</a:t>
                </a:r>
                <a:endParaRPr lang="en-ID" b="1" dirty="0"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3E77A3F-FECF-4EA4-A345-5BD7E687670B}"/>
                  </a:ext>
                </a:extLst>
              </p:cNvPr>
              <p:cNvSpPr/>
              <p:nvPr/>
            </p:nvSpPr>
            <p:spPr>
              <a:xfrm>
                <a:off x="8576136" y="2691226"/>
                <a:ext cx="825674" cy="1219200"/>
              </a:xfrm>
              <a:custGeom>
                <a:avLst/>
                <a:gdLst>
                  <a:gd name="connsiteX0" fmla="*/ 63674 w 825674"/>
                  <a:gd name="connsiteY0" fmla="*/ 0 h 1219200"/>
                  <a:gd name="connsiteX1" fmla="*/ 76374 w 825674"/>
                  <a:gd name="connsiteY1" fmla="*/ 901700 h 1219200"/>
                  <a:gd name="connsiteX2" fmla="*/ 825674 w 825674"/>
                  <a:gd name="connsiteY2" fmla="*/ 1219200 h 1219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25674" h="1219200">
                    <a:moveTo>
                      <a:pt x="63674" y="0"/>
                    </a:moveTo>
                    <a:cubicBezTo>
                      <a:pt x="6524" y="349250"/>
                      <a:pt x="-50626" y="698500"/>
                      <a:pt x="76374" y="901700"/>
                    </a:cubicBezTo>
                    <a:cubicBezTo>
                      <a:pt x="203374" y="1104900"/>
                      <a:pt x="514524" y="1162050"/>
                      <a:pt x="825674" y="121920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2064" name="TextBox 2063">
                <a:extLst>
                  <a:ext uri="{FF2B5EF4-FFF2-40B4-BE49-F238E27FC236}">
                    <a16:creationId xmlns:a16="http://schemas.microsoft.com/office/drawing/2014/main" id="{91B90B3A-4090-E0DC-BC54-7D2634C50C42}"/>
                  </a:ext>
                </a:extLst>
              </p:cNvPr>
              <p:cNvSpPr txBox="1"/>
              <p:nvPr/>
            </p:nvSpPr>
            <p:spPr>
              <a:xfrm>
                <a:off x="9922908" y="3750546"/>
                <a:ext cx="188514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Adobe Gothic Std B" panose="020B0800000000000000" pitchFamily="34" charset="-128"/>
                    <a:ea typeface="Adobe Gothic Std B" panose="020B0800000000000000" pitchFamily="34" charset="-128"/>
                  </a:rPr>
                  <a:t>Customer</a:t>
                </a:r>
                <a:endParaRPr lang="en-ID" sz="1400" dirty="0">
                  <a:latin typeface="Adobe Gothic Std B" panose="020B0800000000000000" pitchFamily="34" charset="-128"/>
                  <a:ea typeface="Adobe Gothic Std B" panose="020B0800000000000000" pitchFamily="34" charset="-128"/>
                </a:endParaRPr>
              </a:p>
            </p:txBody>
          </p:sp>
        </p:grpSp>
        <p:sp>
          <p:nvSpPr>
            <p:cNvPr id="2066" name="Rectangle 2065">
              <a:extLst>
                <a:ext uri="{FF2B5EF4-FFF2-40B4-BE49-F238E27FC236}">
                  <a16:creationId xmlns:a16="http://schemas.microsoft.com/office/drawing/2014/main" id="{24793817-1426-8EE6-2544-E748F1DDA6BA}"/>
                </a:ext>
              </a:extLst>
            </p:cNvPr>
            <p:cNvSpPr/>
            <p:nvPr/>
          </p:nvSpPr>
          <p:spPr>
            <a:xfrm>
              <a:off x="5005773" y="995065"/>
              <a:ext cx="2997071" cy="4351635"/>
            </a:xfrm>
            <a:prstGeom prst="rect">
              <a:avLst/>
            </a:prstGeom>
            <a:solidFill>
              <a:srgbClr val="E33054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067" name="Rectangle 2066">
              <a:extLst>
                <a:ext uri="{FF2B5EF4-FFF2-40B4-BE49-F238E27FC236}">
                  <a16:creationId xmlns:a16="http://schemas.microsoft.com/office/drawing/2014/main" id="{5256AFB6-9EFA-A1DE-725B-5AC6DD56DB90}"/>
                </a:ext>
              </a:extLst>
            </p:cNvPr>
            <p:cNvSpPr/>
            <p:nvPr/>
          </p:nvSpPr>
          <p:spPr>
            <a:xfrm>
              <a:off x="9204512" y="3673603"/>
              <a:ext cx="2603542" cy="2087172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2068" name="TextBox 2067">
              <a:extLst>
                <a:ext uri="{FF2B5EF4-FFF2-40B4-BE49-F238E27FC236}">
                  <a16:creationId xmlns:a16="http://schemas.microsoft.com/office/drawing/2014/main" id="{2A714925-9900-F0A2-3DC4-1A2427E6299E}"/>
                </a:ext>
              </a:extLst>
            </p:cNvPr>
            <p:cNvSpPr txBox="1"/>
            <p:nvPr/>
          </p:nvSpPr>
          <p:spPr>
            <a:xfrm>
              <a:off x="9204512" y="3395262"/>
              <a:ext cx="188514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err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Sumber</a:t>
              </a:r>
              <a:r>
                <a:rPr lang="en-US" sz="1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Pendapatan</a:t>
              </a:r>
              <a:endParaRPr lang="en-ID" sz="1400" b="1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069" name="TextBox 2068">
              <a:extLst>
                <a:ext uri="{FF2B5EF4-FFF2-40B4-BE49-F238E27FC236}">
                  <a16:creationId xmlns:a16="http://schemas.microsoft.com/office/drawing/2014/main" id="{99E7CA9B-6207-D019-F399-DB3E55F86313}"/>
                </a:ext>
              </a:extLst>
            </p:cNvPr>
            <p:cNvSpPr txBox="1"/>
            <p:nvPr/>
          </p:nvSpPr>
          <p:spPr>
            <a:xfrm>
              <a:off x="4935407" y="699988"/>
              <a:ext cx="188514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err="1">
                  <a:solidFill>
                    <a:srgbClr val="FE6347"/>
                  </a:solidFill>
                </a:rPr>
                <a:t>Sumber</a:t>
              </a:r>
              <a:r>
                <a:rPr lang="en-US" sz="1400" b="1" dirty="0">
                  <a:solidFill>
                    <a:srgbClr val="FE6347"/>
                  </a:solidFill>
                </a:rPr>
                <a:t> </a:t>
              </a:r>
              <a:r>
                <a:rPr lang="en-US" sz="1400" b="1" dirty="0" err="1">
                  <a:solidFill>
                    <a:srgbClr val="FE6347"/>
                  </a:solidFill>
                </a:rPr>
                <a:t>Biaya</a:t>
              </a:r>
              <a:endParaRPr lang="en-ID" sz="1400" b="1" dirty="0">
                <a:solidFill>
                  <a:srgbClr val="FE6347"/>
                </a:solidFill>
              </a:endParaRPr>
            </a:p>
          </p:txBody>
        </p:sp>
      </p:grpSp>
      <p:sp>
        <p:nvSpPr>
          <p:cNvPr id="2071" name="Flowchart: Connector 2070">
            <a:extLst>
              <a:ext uri="{FF2B5EF4-FFF2-40B4-BE49-F238E27FC236}">
                <a16:creationId xmlns:a16="http://schemas.microsoft.com/office/drawing/2014/main" id="{B8FEA038-CAF8-1E2B-2988-45498ED76663}"/>
              </a:ext>
            </a:extLst>
          </p:cNvPr>
          <p:cNvSpPr/>
          <p:nvPr/>
        </p:nvSpPr>
        <p:spPr>
          <a:xfrm>
            <a:off x="11968163" y="6634163"/>
            <a:ext cx="223837" cy="223837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</a:t>
            </a:r>
            <a:endParaRPr lang="en-ID" sz="1200" dirty="0">
              <a:solidFill>
                <a:schemeClr val="tx1"/>
              </a:solidFill>
            </a:endParaRPr>
          </a:p>
        </p:txBody>
      </p:sp>
      <p:cxnSp>
        <p:nvCxnSpPr>
          <p:cNvPr id="2073" name="Straight Connector 2072">
            <a:extLst>
              <a:ext uri="{FF2B5EF4-FFF2-40B4-BE49-F238E27FC236}">
                <a16:creationId xmlns:a16="http://schemas.microsoft.com/office/drawing/2014/main" id="{E9F414F8-8931-3AD5-6042-135841647B26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4935407" y="277104"/>
            <a:ext cx="7172325" cy="25464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7" name="Straight Connector 2076">
            <a:extLst>
              <a:ext uri="{FF2B5EF4-FFF2-40B4-BE49-F238E27FC236}">
                <a16:creationId xmlns:a16="http://schemas.microsoft.com/office/drawing/2014/main" id="{73E2D19E-80DF-45F1-7DAB-400D7C69D8E5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409575" y="302568"/>
            <a:ext cx="732594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501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38F23-E4F1-D3D6-F6B4-C60895C82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50344A-DCE4-1926-47A4-817DE71D8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407" y="0"/>
            <a:ext cx="6440593" cy="6858000"/>
          </a:xfrm>
          <a:prstGeom prst="rect">
            <a:avLst/>
          </a:prstGeom>
        </p:spPr>
      </p:pic>
      <p:pic>
        <p:nvPicPr>
          <p:cNvPr id="2050" name="Picture 2" descr="grocery store Color Palette">
            <a:extLst>
              <a:ext uri="{FF2B5EF4-FFF2-40B4-BE49-F238E27FC236}">
                <a16:creationId xmlns:a16="http://schemas.microsoft.com/office/drawing/2014/main" id="{52D51D85-55B1-5C79-C330-947B14821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6900" y="0"/>
            <a:ext cx="1676400" cy="111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26 Grocery Store Color Palettes">
            <a:extLst>
              <a:ext uri="{FF2B5EF4-FFF2-40B4-BE49-F238E27FC236}">
                <a16:creationId xmlns:a16="http://schemas.microsoft.com/office/drawing/2014/main" id="{433AE4BD-09D8-6539-01D4-D1DEFAFA5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1225" y="1420972"/>
            <a:ext cx="1616076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hopping Color Palette">
            <a:extLst>
              <a:ext uri="{FF2B5EF4-FFF2-40B4-BE49-F238E27FC236}">
                <a16:creationId xmlns:a16="http://schemas.microsoft.com/office/drawing/2014/main" id="{15A3D0CE-30FC-6265-155C-372FDC5C9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10223" y="2430780"/>
            <a:ext cx="1919723" cy="127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3C2F70-1C9E-FA28-A66C-5ABA70D84975}"/>
              </a:ext>
            </a:extLst>
          </p:cNvPr>
          <p:cNvSpPr txBox="1"/>
          <p:nvPr/>
        </p:nvSpPr>
        <p:spPr>
          <a:xfrm>
            <a:off x="342900" y="71735"/>
            <a:ext cx="3598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highlight>
                  <a:srgbClr val="00000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Gambaran Umum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highlight>
                  <a:srgbClr val="00000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Bisnis</a:t>
            </a:r>
            <a:endParaRPr kumimoji="0" lang="en-ID" sz="2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highlight>
                <a:srgbClr val="000000"/>
              </a:highligh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197EB9FE-FFD9-DE2C-3FEA-7BDF36AB3832}"/>
              </a:ext>
            </a:extLst>
          </p:cNvPr>
          <p:cNvSpPr/>
          <p:nvPr/>
        </p:nvSpPr>
        <p:spPr>
          <a:xfrm>
            <a:off x="11968163" y="6634163"/>
            <a:ext cx="223837" cy="223837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</a:t>
            </a:r>
            <a:endParaRPr lang="en-ID" sz="1200" dirty="0">
              <a:solidFill>
                <a:schemeClr val="tx1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2EE3BB4-EB45-6BA7-464C-293C23FCA331}"/>
              </a:ext>
            </a:extLst>
          </p:cNvPr>
          <p:cNvGrpSpPr/>
          <p:nvPr/>
        </p:nvGrpSpPr>
        <p:grpSpPr>
          <a:xfrm>
            <a:off x="1647190" y="6604000"/>
            <a:ext cx="8897620" cy="254000"/>
            <a:chOff x="894080" y="6604000"/>
            <a:chExt cx="8897620" cy="254000"/>
          </a:xfr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2C11210-3C6F-5014-0BEB-C8E14D65C934}"/>
                </a:ext>
              </a:extLst>
            </p:cNvPr>
            <p:cNvSpPr/>
            <p:nvPr/>
          </p:nvSpPr>
          <p:spPr>
            <a:xfrm>
              <a:off x="894080" y="6604000"/>
              <a:ext cx="1950720" cy="254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Pandangan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Umum </a:t>
              </a:r>
              <a:r>
                <a:rPr kumimoji="0" lang="en-US" sz="12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Bisnis</a:t>
              </a:r>
              <a:endParaRPr kumimoji="0" lang="en-ID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2DB0214-1876-8F0A-6BF8-1763A4D5ABC4}"/>
                </a:ext>
              </a:extLst>
            </p:cNvPr>
            <p:cNvSpPr/>
            <p:nvPr/>
          </p:nvSpPr>
          <p:spPr>
            <a:xfrm>
              <a:off x="3241887" y="6604000"/>
              <a:ext cx="2420620" cy="254000"/>
            </a:xfrm>
            <a:prstGeom prst="rect">
              <a:avLst/>
            </a:prstGeom>
            <a:solidFill>
              <a:srgbClr val="F0E78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Pemahaman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dan </a:t>
              </a:r>
              <a:r>
                <a:rPr kumimoji="0" lang="en-US" sz="12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Rekayasa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Data</a:t>
              </a:r>
              <a:endParaRPr kumimoji="0" lang="en-ID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4F04103-7184-432C-4B6D-760BF4EC98B6}"/>
                </a:ext>
              </a:extLst>
            </p:cNvPr>
            <p:cNvSpPr/>
            <p:nvPr/>
          </p:nvSpPr>
          <p:spPr>
            <a:xfrm>
              <a:off x="6059594" y="6604000"/>
              <a:ext cx="2420620" cy="254000"/>
            </a:xfrm>
            <a:prstGeom prst="rect">
              <a:avLst/>
            </a:prstGeom>
            <a:solidFill>
              <a:srgbClr val="F0E78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Exploratory Data Analysis</a:t>
              </a:r>
              <a:endParaRPr kumimoji="0" lang="en-ID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1D43D5C-886F-9F42-FABE-EAA80C171702}"/>
                </a:ext>
              </a:extLst>
            </p:cNvPr>
            <p:cNvSpPr/>
            <p:nvPr/>
          </p:nvSpPr>
          <p:spPr>
            <a:xfrm>
              <a:off x="8877300" y="6604000"/>
              <a:ext cx="914400" cy="254000"/>
            </a:xfrm>
            <a:prstGeom prst="rect">
              <a:avLst/>
            </a:prstGeom>
            <a:solidFill>
              <a:srgbClr val="F0E78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Closing</a:t>
              </a:r>
              <a:endParaRPr kumimoji="0" lang="en-ID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2F41D426-0822-D016-0FAA-501ABD1F5B17}"/>
              </a:ext>
            </a:extLst>
          </p:cNvPr>
          <p:cNvSpPr/>
          <p:nvPr/>
        </p:nvSpPr>
        <p:spPr>
          <a:xfrm>
            <a:off x="5751407" y="0"/>
            <a:ext cx="6440593" cy="6858000"/>
          </a:xfrm>
          <a:prstGeom prst="rect">
            <a:avLst/>
          </a:prstGeom>
          <a:solidFill>
            <a:schemeClr val="bg2">
              <a:lumMod val="1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05E2AD-25E4-60D9-72C4-0F967E308FD3}"/>
              </a:ext>
            </a:extLst>
          </p:cNvPr>
          <p:cNvGrpSpPr/>
          <p:nvPr/>
        </p:nvGrpSpPr>
        <p:grpSpPr>
          <a:xfrm>
            <a:off x="390553" y="1777698"/>
            <a:ext cx="1719961" cy="1094545"/>
            <a:chOff x="461791" y="2609548"/>
            <a:chExt cx="2110422" cy="134302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5236270-5A96-4813-A04A-A58C3D91DDC1}"/>
                </a:ext>
              </a:extLst>
            </p:cNvPr>
            <p:cNvGrpSpPr/>
            <p:nvPr/>
          </p:nvGrpSpPr>
          <p:grpSpPr>
            <a:xfrm>
              <a:off x="757065" y="2609548"/>
              <a:ext cx="1815148" cy="1343025"/>
              <a:chOff x="1999602" y="2609552"/>
              <a:chExt cx="1815148" cy="1343025"/>
            </a:xfrm>
          </p:grpSpPr>
          <p:sp>
            <p:nvSpPr>
              <p:cNvPr id="8" name="Flowchart: Connector 7">
                <a:extLst>
                  <a:ext uri="{FF2B5EF4-FFF2-40B4-BE49-F238E27FC236}">
                    <a16:creationId xmlns:a16="http://schemas.microsoft.com/office/drawing/2014/main" id="{70519F3D-7765-C866-735A-F0A80F063950}"/>
                  </a:ext>
                </a:extLst>
              </p:cNvPr>
              <p:cNvSpPr/>
              <p:nvPr/>
            </p:nvSpPr>
            <p:spPr>
              <a:xfrm>
                <a:off x="2471725" y="2609552"/>
                <a:ext cx="1343025" cy="134302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FC688A6-31DA-575E-332D-B45C435EFDBD}"/>
                  </a:ext>
                </a:extLst>
              </p:cNvPr>
              <p:cNvSpPr/>
              <p:nvPr/>
            </p:nvSpPr>
            <p:spPr>
              <a:xfrm>
                <a:off x="1999602" y="2876552"/>
                <a:ext cx="648971" cy="83404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F6CEAC3-3763-CA3F-626C-7E45EB92B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61791" y="2808939"/>
              <a:ext cx="944245" cy="944245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FE54C72-CFDD-E6CD-33BC-36814A5D6384}"/>
              </a:ext>
            </a:extLst>
          </p:cNvPr>
          <p:cNvSpPr txBox="1"/>
          <p:nvPr/>
        </p:nvSpPr>
        <p:spPr>
          <a:xfrm>
            <a:off x="1031635" y="2063785"/>
            <a:ext cx="1094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/>
              <a:t>Bisnis</a:t>
            </a:r>
            <a:r>
              <a:rPr lang="en-US" sz="1200" b="1" dirty="0"/>
              <a:t> Supermarket</a:t>
            </a:r>
            <a:endParaRPr lang="en-ID" sz="1200" b="1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5D2BF16-20BE-09E3-2843-8665D0CA5234}"/>
              </a:ext>
            </a:extLst>
          </p:cNvPr>
          <p:cNvGrpSpPr/>
          <p:nvPr/>
        </p:nvGrpSpPr>
        <p:grpSpPr>
          <a:xfrm>
            <a:off x="2740368" y="642540"/>
            <a:ext cx="1717332" cy="307777"/>
            <a:chOff x="2740368" y="1257300"/>
            <a:chExt cx="1717332" cy="3077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7E1DD2B-592E-7D5C-E934-8A5BBE101A33}"/>
                </a:ext>
              </a:extLst>
            </p:cNvPr>
            <p:cNvSpPr txBox="1"/>
            <p:nvPr/>
          </p:nvSpPr>
          <p:spPr>
            <a:xfrm>
              <a:off x="2835618" y="1257300"/>
              <a:ext cx="16220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highlight>
                    <a:srgbClr val="FED700"/>
                  </a:highlight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Latar </a:t>
              </a:r>
              <a:r>
                <a:rPr lang="en-US" sz="1400" b="1" dirty="0" err="1">
                  <a:highlight>
                    <a:srgbClr val="FED700"/>
                  </a:highlight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Belakang</a:t>
              </a:r>
              <a:endParaRPr lang="en-ID" sz="1400" b="1" dirty="0">
                <a:highlight>
                  <a:srgbClr val="FED700"/>
                </a:highlight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  <p:sp>
          <p:nvSpPr>
            <p:cNvPr id="17" name="Flowchart: Terminator 16">
              <a:extLst>
                <a:ext uri="{FF2B5EF4-FFF2-40B4-BE49-F238E27FC236}">
                  <a16:creationId xmlns:a16="http://schemas.microsoft.com/office/drawing/2014/main" id="{8F28C973-7FBA-C922-B1F8-A3276E06D532}"/>
                </a:ext>
              </a:extLst>
            </p:cNvPr>
            <p:cNvSpPr/>
            <p:nvPr/>
          </p:nvSpPr>
          <p:spPr>
            <a:xfrm rot="5400000">
              <a:off x="2682214" y="1363563"/>
              <a:ext cx="211557" cy="95250"/>
            </a:xfrm>
            <a:prstGeom prst="flowChartTermina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07C775B1-113B-1B13-D49D-1E587AFA1904}"/>
              </a:ext>
            </a:extLst>
          </p:cNvPr>
          <p:cNvCxnSpPr>
            <a:cxnSpLocks/>
            <a:stCxn id="15" idx="3"/>
            <a:endCxn id="17" idx="2"/>
          </p:cNvCxnSpPr>
          <p:nvPr/>
        </p:nvCxnSpPr>
        <p:spPr>
          <a:xfrm flipV="1">
            <a:off x="2126179" y="796429"/>
            <a:ext cx="614189" cy="1498189"/>
          </a:xfrm>
          <a:prstGeom prst="curvedConnector3">
            <a:avLst/>
          </a:prstGeom>
          <a:ln w="12700">
            <a:solidFill>
              <a:schemeClr val="tx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72DF1F2-7F27-BA17-8C6C-28D499613D57}"/>
              </a:ext>
            </a:extLst>
          </p:cNvPr>
          <p:cNvGrpSpPr/>
          <p:nvPr/>
        </p:nvGrpSpPr>
        <p:grpSpPr>
          <a:xfrm>
            <a:off x="2740367" y="3598606"/>
            <a:ext cx="1717332" cy="307777"/>
            <a:chOff x="2740367" y="4403888"/>
            <a:chExt cx="1717332" cy="30777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0F9F8CF-D2BF-7FBA-EA81-B406F943A0AE}"/>
                </a:ext>
              </a:extLst>
            </p:cNvPr>
            <p:cNvSpPr txBox="1"/>
            <p:nvPr/>
          </p:nvSpPr>
          <p:spPr>
            <a:xfrm>
              <a:off x="2835617" y="4403888"/>
              <a:ext cx="16220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highlight>
                    <a:srgbClr val="FED700"/>
                  </a:highlight>
                  <a:latin typeface="Adobe Gothic Std B" panose="020B0800000000000000" pitchFamily="34" charset="-128"/>
                  <a:ea typeface="Adobe Gothic Std B" panose="020B0800000000000000" pitchFamily="34" charset="-128"/>
                </a:rPr>
                <a:t>Problem</a:t>
              </a:r>
              <a:endParaRPr lang="en-ID" sz="1400" b="1" dirty="0">
                <a:highlight>
                  <a:srgbClr val="FED700"/>
                </a:highlight>
                <a:latin typeface="Adobe Gothic Std B" panose="020B0800000000000000" pitchFamily="34" charset="-128"/>
                <a:ea typeface="Adobe Gothic Std B" panose="020B0800000000000000" pitchFamily="34" charset="-128"/>
              </a:endParaRPr>
            </a:p>
          </p:txBody>
        </p:sp>
        <p:sp>
          <p:nvSpPr>
            <p:cNvPr id="22" name="Flowchart: Terminator 21">
              <a:extLst>
                <a:ext uri="{FF2B5EF4-FFF2-40B4-BE49-F238E27FC236}">
                  <a16:creationId xmlns:a16="http://schemas.microsoft.com/office/drawing/2014/main" id="{C2A5F013-CEF5-706B-066A-2D31D109004F}"/>
                </a:ext>
              </a:extLst>
            </p:cNvPr>
            <p:cNvSpPr/>
            <p:nvPr/>
          </p:nvSpPr>
          <p:spPr>
            <a:xfrm rot="5400000">
              <a:off x="2682213" y="4510151"/>
              <a:ext cx="211557" cy="95250"/>
            </a:xfrm>
            <a:prstGeom prst="flowChartTermina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E7E34A55-D7DB-3203-A7C5-042ADEDD0105}"/>
              </a:ext>
            </a:extLst>
          </p:cNvPr>
          <p:cNvCxnSpPr>
            <a:stCxn id="15" idx="3"/>
            <a:endCxn id="22" idx="2"/>
          </p:cNvCxnSpPr>
          <p:nvPr/>
        </p:nvCxnSpPr>
        <p:spPr>
          <a:xfrm>
            <a:off x="2126179" y="2294618"/>
            <a:ext cx="614188" cy="1457877"/>
          </a:xfrm>
          <a:prstGeom prst="curvedConnector3">
            <a:avLst/>
          </a:prstGeom>
          <a:ln w="12700">
            <a:solidFill>
              <a:schemeClr val="tx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91D3C71-8A47-57FA-8284-142690E2DDE0}"/>
              </a:ext>
            </a:extLst>
          </p:cNvPr>
          <p:cNvSpPr txBox="1"/>
          <p:nvPr/>
        </p:nvSpPr>
        <p:spPr>
          <a:xfrm>
            <a:off x="2933700" y="926681"/>
            <a:ext cx="28177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i="1" dirty="0" err="1"/>
              <a:t>Perilaku</a:t>
            </a:r>
            <a:r>
              <a:rPr lang="en-US" sz="1200" i="1" dirty="0"/>
              <a:t> </a:t>
            </a:r>
            <a:r>
              <a:rPr lang="en-US" sz="1200" i="1" dirty="0" err="1"/>
              <a:t>belanja</a:t>
            </a:r>
            <a:r>
              <a:rPr lang="en-US" sz="1200" i="1" dirty="0"/>
              <a:t> </a:t>
            </a:r>
            <a:r>
              <a:rPr lang="en-US" sz="1200" i="1" dirty="0" err="1"/>
              <a:t>konsumen</a:t>
            </a:r>
            <a:r>
              <a:rPr lang="en-US" sz="1200" i="1" dirty="0"/>
              <a:t> </a:t>
            </a:r>
            <a:r>
              <a:rPr lang="en-US" sz="1200" i="1" dirty="0" err="1"/>
              <a:t>untuk</a:t>
            </a:r>
            <a:r>
              <a:rPr lang="en-US" sz="1200" i="1" dirty="0"/>
              <a:t> </a:t>
            </a:r>
            <a:r>
              <a:rPr lang="en-US" sz="1200" i="1" dirty="0" err="1"/>
              <a:t>memenuhi</a:t>
            </a:r>
            <a:r>
              <a:rPr lang="en-US" sz="1200" i="1" dirty="0"/>
              <a:t> </a:t>
            </a:r>
            <a:r>
              <a:rPr lang="en-US" sz="1200" i="1" dirty="0" err="1"/>
              <a:t>kebutuhan</a:t>
            </a:r>
            <a:r>
              <a:rPr lang="en-US" sz="1200" i="1" dirty="0"/>
              <a:t> </a:t>
            </a:r>
            <a:r>
              <a:rPr lang="en-US" sz="1200" i="1" dirty="0" err="1"/>
              <a:t>harian</a:t>
            </a:r>
            <a:r>
              <a:rPr lang="en-US" sz="1200" i="1" dirty="0"/>
              <a:t> </a:t>
            </a:r>
            <a:r>
              <a:rPr lang="en-US" sz="1200" i="1" dirty="0" err="1"/>
              <a:t>masih</a:t>
            </a:r>
            <a:r>
              <a:rPr lang="en-US" sz="1200" i="1" dirty="0"/>
              <a:t> </a:t>
            </a:r>
            <a:r>
              <a:rPr lang="en-US" sz="1200" i="1" dirty="0" err="1"/>
              <a:t>menjadi</a:t>
            </a:r>
            <a:r>
              <a:rPr lang="en-US" sz="1200" i="1" dirty="0"/>
              <a:t> </a:t>
            </a:r>
            <a:r>
              <a:rPr lang="en-US" sz="1200" i="1" dirty="0" err="1"/>
              <a:t>proporsi</a:t>
            </a:r>
            <a:r>
              <a:rPr lang="en-US" sz="1200" i="1" dirty="0"/>
              <a:t> </a:t>
            </a:r>
            <a:r>
              <a:rPr lang="en-US" sz="1200" i="1" dirty="0" err="1"/>
              <a:t>terbesar</a:t>
            </a:r>
            <a:r>
              <a:rPr lang="en-US" sz="1200" i="1" dirty="0"/>
              <a:t>. Di </a:t>
            </a:r>
            <a:r>
              <a:rPr lang="en-US" sz="1200" i="1" dirty="0" err="1"/>
              <a:t>kondisi</a:t>
            </a:r>
            <a:r>
              <a:rPr lang="en-US" sz="1200" i="1" dirty="0"/>
              <a:t> </a:t>
            </a:r>
            <a:r>
              <a:rPr lang="en-US" sz="1200" i="1" u="sng" dirty="0"/>
              <a:t>landscape</a:t>
            </a:r>
            <a:r>
              <a:rPr lang="en-US" sz="1200" i="1" dirty="0"/>
              <a:t> </a:t>
            </a:r>
            <a:r>
              <a:rPr lang="en-US" sz="1200" i="1" u="sng" dirty="0"/>
              <a:t>market</a:t>
            </a:r>
            <a:r>
              <a:rPr lang="en-US" sz="1200" i="1" dirty="0"/>
              <a:t> </a:t>
            </a:r>
            <a:r>
              <a:rPr lang="en-US" sz="1200" i="1" u="sng" dirty="0"/>
              <a:t>grocery</a:t>
            </a:r>
            <a:r>
              <a:rPr lang="en-US" sz="1200" i="1" dirty="0"/>
              <a:t> yang </a:t>
            </a:r>
            <a:r>
              <a:rPr lang="en-US" sz="1200" i="1" dirty="0" err="1"/>
              <a:t>semakin</a:t>
            </a:r>
            <a:r>
              <a:rPr lang="en-US" sz="1200" i="1" dirty="0"/>
              <a:t> </a:t>
            </a:r>
            <a:r>
              <a:rPr lang="en-US" sz="1200" i="1" dirty="0" err="1"/>
              <a:t>kompetitif</a:t>
            </a:r>
            <a:r>
              <a:rPr lang="en-US" sz="1200" i="1" dirty="0"/>
              <a:t>, Perusahaan </a:t>
            </a:r>
            <a:r>
              <a:rPr lang="en-US" sz="1200" i="1" dirty="0" err="1"/>
              <a:t>harus</a:t>
            </a:r>
            <a:r>
              <a:rPr lang="en-US" sz="1200" i="1" dirty="0"/>
              <a:t> </a:t>
            </a:r>
            <a:r>
              <a:rPr lang="en-US" sz="1200" i="1" dirty="0" err="1"/>
              <a:t>bisa</a:t>
            </a:r>
            <a:r>
              <a:rPr lang="en-US" sz="1200" i="1" dirty="0"/>
              <a:t> </a:t>
            </a:r>
            <a:r>
              <a:rPr lang="en-US" sz="1200" i="1" dirty="0" err="1"/>
              <a:t>tetap</a:t>
            </a:r>
            <a:r>
              <a:rPr lang="en-US" sz="1200" i="1" dirty="0"/>
              <a:t> </a:t>
            </a:r>
            <a:r>
              <a:rPr lang="en-US" sz="1200" i="1" dirty="0" err="1"/>
              <a:t>kompetitif</a:t>
            </a:r>
            <a:r>
              <a:rPr lang="en-US" sz="1200" i="1" dirty="0"/>
              <a:t> </a:t>
            </a:r>
            <a:r>
              <a:rPr lang="en-US" sz="1200" i="1" dirty="0" err="1"/>
              <a:t>terefleksi</a:t>
            </a:r>
            <a:r>
              <a:rPr lang="en-US" sz="1200" i="1" dirty="0"/>
              <a:t> </a:t>
            </a:r>
            <a:r>
              <a:rPr lang="en-US" sz="1200" i="1" dirty="0" err="1"/>
              <a:t>dari</a:t>
            </a:r>
            <a:r>
              <a:rPr lang="en-US" sz="1200" i="1" dirty="0"/>
              <a:t> </a:t>
            </a:r>
            <a:r>
              <a:rPr lang="en-US" sz="1200" i="1" dirty="0" err="1"/>
              <a:t>penjualan</a:t>
            </a:r>
            <a:r>
              <a:rPr lang="en-US" sz="1200" i="1" dirty="0"/>
              <a:t> </a:t>
            </a:r>
            <a:r>
              <a:rPr lang="en-US" sz="1200" i="1" dirty="0" err="1"/>
              <a:t>produk</a:t>
            </a:r>
            <a:r>
              <a:rPr lang="en-US" sz="1200" i="1" dirty="0"/>
              <a:t> </a:t>
            </a:r>
            <a:r>
              <a:rPr lang="en-US" sz="1200" i="1" dirty="0" err="1"/>
              <a:t>nya</a:t>
            </a:r>
            <a:r>
              <a:rPr lang="en-US" sz="1200" i="1" dirty="0"/>
              <a:t>. </a:t>
            </a:r>
            <a:endParaRPr lang="en-ID" sz="1200" i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4DFD7C-3F65-78B5-1EC7-BF65DFA05DB9}"/>
              </a:ext>
            </a:extLst>
          </p:cNvPr>
          <p:cNvSpPr txBox="1"/>
          <p:nvPr/>
        </p:nvSpPr>
        <p:spPr>
          <a:xfrm>
            <a:off x="2841212" y="3779895"/>
            <a:ext cx="29101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i="1" dirty="0"/>
              <a:t>Dalam </a:t>
            </a:r>
            <a:r>
              <a:rPr lang="en-US" sz="1200" i="1" dirty="0" err="1"/>
              <a:t>menerapkan</a:t>
            </a:r>
            <a:r>
              <a:rPr lang="en-US" sz="1200" i="1" dirty="0"/>
              <a:t> campaign, supermarket </a:t>
            </a:r>
            <a:r>
              <a:rPr lang="en-US" sz="1200" i="1" dirty="0" err="1"/>
              <a:t>harus</a:t>
            </a:r>
            <a:r>
              <a:rPr lang="en-US" sz="1200" i="1" dirty="0"/>
              <a:t> </a:t>
            </a:r>
            <a:r>
              <a:rPr lang="en-US" sz="1200" i="1" dirty="0" err="1"/>
              <a:t>mengetahui</a:t>
            </a:r>
            <a:r>
              <a:rPr lang="en-US" sz="1200" i="1" dirty="0"/>
              <a:t> </a:t>
            </a:r>
            <a:r>
              <a:rPr lang="en-US" sz="1200" i="1" dirty="0" err="1"/>
              <a:t>demografi</a:t>
            </a:r>
            <a:r>
              <a:rPr lang="en-US" sz="1200" i="1" dirty="0"/>
              <a:t> </a:t>
            </a:r>
            <a:r>
              <a:rPr lang="en-US" sz="1200" i="1" dirty="0" err="1"/>
              <a:t>konsumennya</a:t>
            </a:r>
            <a:r>
              <a:rPr lang="en-US" sz="1200" i="1" dirty="0"/>
              <a:t> dan </a:t>
            </a:r>
            <a:r>
              <a:rPr lang="en-US" sz="1200" i="1" dirty="0" err="1"/>
              <a:t>mengevaluasi</a:t>
            </a:r>
            <a:r>
              <a:rPr lang="en-US" sz="1200" i="1" dirty="0"/>
              <a:t> strategi campaign </a:t>
            </a:r>
            <a:r>
              <a:rPr lang="en-US" sz="1200" i="1" dirty="0" err="1"/>
              <a:t>sebelumnya</a:t>
            </a:r>
            <a:r>
              <a:rPr lang="en-US" sz="1200" i="1" dirty="0"/>
              <a:t>.</a:t>
            </a:r>
            <a:endParaRPr lang="en-ID" sz="1200" i="1" dirty="0"/>
          </a:p>
        </p:txBody>
      </p:sp>
      <p:sp>
        <p:nvSpPr>
          <p:cNvPr id="33" name="Flowchart: Manual Operation 32">
            <a:extLst>
              <a:ext uri="{FF2B5EF4-FFF2-40B4-BE49-F238E27FC236}">
                <a16:creationId xmlns:a16="http://schemas.microsoft.com/office/drawing/2014/main" id="{C263DE7C-1352-54F4-1219-53265FA40737}"/>
              </a:ext>
            </a:extLst>
          </p:cNvPr>
          <p:cNvSpPr/>
          <p:nvPr/>
        </p:nvSpPr>
        <p:spPr>
          <a:xfrm>
            <a:off x="342899" y="4830223"/>
            <a:ext cx="5313253" cy="314683"/>
          </a:xfrm>
          <a:prstGeom prst="flowChartManualOperation">
            <a:avLst/>
          </a:prstGeom>
          <a:solidFill>
            <a:schemeClr val="bg2">
              <a:lumMod val="90000"/>
              <a:alpha val="38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Pertanyaan</a:t>
            </a:r>
            <a:r>
              <a:rPr lang="en-US" sz="1400" b="1" dirty="0">
                <a:solidFill>
                  <a:schemeClr val="tx1"/>
                </a:solidFill>
              </a:rPr>
              <a:t> Riset</a:t>
            </a:r>
            <a:endParaRPr lang="en-ID" sz="1400" b="1" dirty="0">
              <a:solidFill>
                <a:schemeClr val="tx1"/>
              </a:solidFill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5D53401-C3E5-FD3B-844B-F7FF4B9ACB58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04881" y="5293655"/>
            <a:ext cx="443652" cy="44365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ACE0521-23F4-6E35-4DFB-81E5F949F584}"/>
              </a:ext>
            </a:extLst>
          </p:cNvPr>
          <p:cNvSpPr txBox="1"/>
          <p:nvPr/>
        </p:nvSpPr>
        <p:spPr>
          <a:xfrm>
            <a:off x="342900" y="5737307"/>
            <a:ext cx="1767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 err="1"/>
              <a:t>Bagaimana</a:t>
            </a:r>
            <a:r>
              <a:rPr lang="en-US" sz="1200" i="1" dirty="0"/>
              <a:t> </a:t>
            </a:r>
            <a:r>
              <a:rPr lang="en-US" sz="1200" i="1" dirty="0" err="1"/>
              <a:t>informasi</a:t>
            </a:r>
            <a:r>
              <a:rPr lang="en-US" sz="1200" i="1" dirty="0"/>
              <a:t> </a:t>
            </a:r>
            <a:r>
              <a:rPr lang="en-US" sz="1200" i="1" dirty="0" err="1"/>
              <a:t>demografi</a:t>
            </a:r>
            <a:r>
              <a:rPr lang="en-US" sz="1200" i="1" dirty="0"/>
              <a:t> </a:t>
            </a:r>
            <a:r>
              <a:rPr lang="en-US" sz="1200" i="1" dirty="0" err="1"/>
              <a:t>pengunjung</a:t>
            </a:r>
            <a:r>
              <a:rPr lang="en-US" sz="1200" i="1" dirty="0"/>
              <a:t>? </a:t>
            </a:r>
            <a:endParaRPr lang="en-ID" sz="1200" i="1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26224DA-E292-07C2-10B2-7FE8DA50D07A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863850" y="5328296"/>
            <a:ext cx="376475" cy="376475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B08AED39-D11B-6568-CFA3-DC2065279DB0}"/>
              </a:ext>
            </a:extLst>
          </p:cNvPr>
          <p:cNvSpPr txBox="1"/>
          <p:nvPr/>
        </p:nvSpPr>
        <p:spPr>
          <a:xfrm>
            <a:off x="2163346" y="5729928"/>
            <a:ext cx="1767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 err="1"/>
              <a:t>Apakah</a:t>
            </a:r>
            <a:r>
              <a:rPr lang="en-US" sz="1200" i="1" dirty="0"/>
              <a:t> strategi campaign </a:t>
            </a:r>
            <a:r>
              <a:rPr lang="en-US" sz="1200" i="1" dirty="0" err="1"/>
              <a:t>sudah</a:t>
            </a:r>
            <a:r>
              <a:rPr lang="en-US" sz="1200" i="1" dirty="0"/>
              <a:t> </a:t>
            </a:r>
            <a:r>
              <a:rPr lang="en-US" sz="1200" i="1" dirty="0" err="1"/>
              <a:t>baik</a:t>
            </a:r>
            <a:r>
              <a:rPr lang="en-US" sz="1200" i="1" dirty="0"/>
              <a:t>?</a:t>
            </a:r>
            <a:endParaRPr lang="en-ID" sz="1200" i="1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7C5DD7D1-29D4-A8EE-DCE0-823A99F986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3737" y="5338982"/>
            <a:ext cx="352998" cy="352998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E5FD20DF-EBCA-C9C1-FF09-893AD978F488}"/>
              </a:ext>
            </a:extLst>
          </p:cNvPr>
          <p:cNvSpPr txBox="1"/>
          <p:nvPr/>
        </p:nvSpPr>
        <p:spPr>
          <a:xfrm>
            <a:off x="3941798" y="5737307"/>
            <a:ext cx="17676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/>
              <a:t>Treatment yang </a:t>
            </a:r>
            <a:r>
              <a:rPr lang="en-US" sz="1200" i="1" dirty="0" err="1"/>
              <a:t>sesuai</a:t>
            </a:r>
            <a:r>
              <a:rPr lang="en-US" sz="1200" i="1" dirty="0"/>
              <a:t> </a:t>
            </a:r>
            <a:r>
              <a:rPr lang="en-US" sz="1200" i="1" dirty="0" err="1"/>
              <a:t>dengankonsumen</a:t>
            </a:r>
            <a:r>
              <a:rPr lang="en-US" sz="1200" i="1" dirty="0"/>
              <a:t> lama </a:t>
            </a:r>
            <a:r>
              <a:rPr lang="en-US" sz="1200" i="1" dirty="0" err="1"/>
              <a:t>seperti</a:t>
            </a:r>
            <a:r>
              <a:rPr lang="en-US" sz="1200" i="1" dirty="0"/>
              <a:t> </a:t>
            </a:r>
            <a:r>
              <a:rPr lang="en-US" sz="1200" i="1" dirty="0" err="1"/>
              <a:t>apa</a:t>
            </a:r>
            <a:r>
              <a:rPr lang="en-US" sz="1200" i="1" dirty="0"/>
              <a:t>?</a:t>
            </a:r>
            <a:endParaRPr lang="en-ID" sz="1200" i="1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9337DA2-460D-EEC9-268D-7BF7BB66881B}"/>
              </a:ext>
            </a:extLst>
          </p:cNvPr>
          <p:cNvCxnSpPr>
            <a:stCxn id="3" idx="3"/>
          </p:cNvCxnSpPr>
          <p:nvPr/>
        </p:nvCxnSpPr>
        <p:spPr>
          <a:xfrm>
            <a:off x="3941798" y="302568"/>
            <a:ext cx="1714354" cy="21282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3191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44B6E-BC03-A7FF-D913-7E5C3EBCE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rocery store Color Palette">
            <a:extLst>
              <a:ext uri="{FF2B5EF4-FFF2-40B4-BE49-F238E27FC236}">
                <a16:creationId xmlns:a16="http://schemas.microsoft.com/office/drawing/2014/main" id="{8928C67F-C8CC-D38C-A0FF-1F19BBFE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6900" y="0"/>
            <a:ext cx="1676400" cy="111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26 Grocery Store Color Palettes">
            <a:extLst>
              <a:ext uri="{FF2B5EF4-FFF2-40B4-BE49-F238E27FC236}">
                <a16:creationId xmlns:a16="http://schemas.microsoft.com/office/drawing/2014/main" id="{44BE0678-2BC4-DF72-CD27-68CF9CCE0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1225" y="1420972"/>
            <a:ext cx="1616076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hopping Color Palette">
            <a:extLst>
              <a:ext uri="{FF2B5EF4-FFF2-40B4-BE49-F238E27FC236}">
                <a16:creationId xmlns:a16="http://schemas.microsoft.com/office/drawing/2014/main" id="{D0D15713-AF86-2838-9BB9-D58B894BA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10223" y="2430780"/>
            <a:ext cx="1919723" cy="127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F0F7CE-2506-A523-0A6D-37F490D45232}"/>
              </a:ext>
            </a:extLst>
          </p:cNvPr>
          <p:cNvSpPr txBox="1"/>
          <p:nvPr/>
        </p:nvSpPr>
        <p:spPr>
          <a:xfrm>
            <a:off x="1647190" y="71735"/>
            <a:ext cx="284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  <a:highlight>
                  <a:srgbClr val="000000"/>
                </a:highlight>
              </a:rPr>
              <a:t>Stakeholder </a:t>
            </a:r>
            <a:r>
              <a:rPr lang="en-US" sz="2400" b="1" dirty="0" err="1">
                <a:solidFill>
                  <a:srgbClr val="FFC000"/>
                </a:solidFill>
                <a:highlight>
                  <a:srgbClr val="000000"/>
                </a:highlight>
              </a:rPr>
              <a:t>Bisnis</a:t>
            </a:r>
            <a:endParaRPr lang="en-ID" sz="2400" b="1" dirty="0">
              <a:solidFill>
                <a:srgbClr val="FFC000"/>
              </a:solidFill>
              <a:highlight>
                <a:srgbClr val="000000"/>
              </a:highlight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49EF3E1-F8FF-33A6-7790-FBDB753C19C2}"/>
              </a:ext>
            </a:extLst>
          </p:cNvPr>
          <p:cNvGrpSpPr/>
          <p:nvPr/>
        </p:nvGrpSpPr>
        <p:grpSpPr>
          <a:xfrm>
            <a:off x="1647190" y="6604000"/>
            <a:ext cx="8897620" cy="254000"/>
            <a:chOff x="894080" y="6604000"/>
            <a:chExt cx="8897620" cy="254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775758C-8327-18E8-00D3-D7CD25DCB2C6}"/>
                </a:ext>
              </a:extLst>
            </p:cNvPr>
            <p:cNvSpPr/>
            <p:nvPr/>
          </p:nvSpPr>
          <p:spPr>
            <a:xfrm>
              <a:off x="894080" y="6604000"/>
              <a:ext cx="1950720" cy="254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err="1">
                  <a:solidFill>
                    <a:schemeClr val="tx1"/>
                  </a:solidFill>
                </a:rPr>
                <a:t>Pandangan</a:t>
              </a:r>
              <a:r>
                <a:rPr lang="en-US" sz="1200" b="1" dirty="0">
                  <a:solidFill>
                    <a:schemeClr val="tx1"/>
                  </a:solidFill>
                </a:rPr>
                <a:t> Umum </a:t>
              </a:r>
              <a:r>
                <a:rPr lang="en-US" sz="1200" b="1" dirty="0" err="1">
                  <a:solidFill>
                    <a:schemeClr val="tx1"/>
                  </a:solidFill>
                </a:rPr>
                <a:t>Bisnis</a:t>
              </a:r>
              <a:endParaRPr lang="en-ID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740F77C-B3DC-464B-A2A5-2BBE556109C4}"/>
                </a:ext>
              </a:extLst>
            </p:cNvPr>
            <p:cNvSpPr/>
            <p:nvPr/>
          </p:nvSpPr>
          <p:spPr>
            <a:xfrm>
              <a:off x="3241887" y="6604000"/>
              <a:ext cx="2420620" cy="254000"/>
            </a:xfrm>
            <a:prstGeom prst="rect">
              <a:avLst/>
            </a:prstGeom>
            <a:solidFill>
              <a:srgbClr val="F0E78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err="1">
                  <a:solidFill>
                    <a:schemeClr val="tx1"/>
                  </a:solidFill>
                </a:rPr>
                <a:t>Pemahaman</a:t>
              </a:r>
              <a:r>
                <a:rPr lang="en-US" sz="1200" b="1" dirty="0">
                  <a:solidFill>
                    <a:schemeClr val="tx1"/>
                  </a:solidFill>
                </a:rPr>
                <a:t> dan </a:t>
              </a:r>
              <a:r>
                <a:rPr lang="en-US" sz="1200" b="1" dirty="0" err="1">
                  <a:solidFill>
                    <a:schemeClr val="tx1"/>
                  </a:solidFill>
                </a:rPr>
                <a:t>Rekayasa</a:t>
              </a:r>
              <a:r>
                <a:rPr lang="en-US" sz="1200" b="1" dirty="0">
                  <a:solidFill>
                    <a:schemeClr val="tx1"/>
                  </a:solidFill>
                </a:rPr>
                <a:t> Data</a:t>
              </a:r>
              <a:endParaRPr lang="en-ID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FE3D2C2-4662-AEC8-83A9-6720384B94A1}"/>
                </a:ext>
              </a:extLst>
            </p:cNvPr>
            <p:cNvSpPr/>
            <p:nvPr/>
          </p:nvSpPr>
          <p:spPr>
            <a:xfrm>
              <a:off x="6059594" y="6604000"/>
              <a:ext cx="2420620" cy="254000"/>
            </a:xfrm>
            <a:prstGeom prst="rect">
              <a:avLst/>
            </a:prstGeom>
            <a:solidFill>
              <a:srgbClr val="F0E78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Exploratory Data Analysis</a:t>
              </a:r>
              <a:endParaRPr lang="en-ID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B1BF949-6817-33D0-4DD9-2D26A6C85767}"/>
                </a:ext>
              </a:extLst>
            </p:cNvPr>
            <p:cNvSpPr/>
            <p:nvPr/>
          </p:nvSpPr>
          <p:spPr>
            <a:xfrm>
              <a:off x="8877300" y="6604000"/>
              <a:ext cx="914400" cy="254000"/>
            </a:xfrm>
            <a:prstGeom prst="rect">
              <a:avLst/>
            </a:prstGeom>
            <a:solidFill>
              <a:srgbClr val="F0E78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Closing</a:t>
              </a:r>
              <a:endParaRPr lang="en-ID" sz="1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071" name="Flowchart: Connector 2070">
            <a:extLst>
              <a:ext uri="{FF2B5EF4-FFF2-40B4-BE49-F238E27FC236}">
                <a16:creationId xmlns:a16="http://schemas.microsoft.com/office/drawing/2014/main" id="{694A84EF-ED0F-FFA9-AC59-0D569951744C}"/>
              </a:ext>
            </a:extLst>
          </p:cNvPr>
          <p:cNvSpPr/>
          <p:nvPr/>
        </p:nvSpPr>
        <p:spPr>
          <a:xfrm>
            <a:off x="11968163" y="6634163"/>
            <a:ext cx="223837" cy="223837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4</a:t>
            </a:r>
            <a:endParaRPr lang="en-ID" sz="12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46D728-98E5-CBF9-32AF-D7562662A3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112" b="3449"/>
          <a:stretch>
            <a:fillRect/>
          </a:stretch>
        </p:blipFill>
        <p:spPr>
          <a:xfrm>
            <a:off x="1485582" y="895146"/>
            <a:ext cx="9220835" cy="417215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619B6A0-E20C-1872-D9C5-920C9A7C4A5E}"/>
              </a:ext>
            </a:extLst>
          </p:cNvPr>
          <p:cNvSpPr/>
          <p:nvPr/>
        </p:nvSpPr>
        <p:spPr>
          <a:xfrm>
            <a:off x="6359367" y="3048000"/>
            <a:ext cx="1747308" cy="2009775"/>
          </a:xfrm>
          <a:prstGeom prst="rect">
            <a:avLst/>
          </a:prstGeom>
          <a:noFill/>
          <a:ln w="19050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AA84F6F5-5BDE-8D93-C391-45D83DA62D53}"/>
              </a:ext>
            </a:extLst>
          </p:cNvPr>
          <p:cNvSpPr/>
          <p:nvPr/>
        </p:nvSpPr>
        <p:spPr>
          <a:xfrm rot="5400000">
            <a:off x="7052046" y="4838700"/>
            <a:ext cx="361950" cy="100965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5FE353-D1B6-900F-D189-4977F4604933}"/>
              </a:ext>
            </a:extLst>
          </p:cNvPr>
          <p:cNvSpPr txBox="1"/>
          <p:nvPr/>
        </p:nvSpPr>
        <p:spPr>
          <a:xfrm>
            <a:off x="6159792" y="5593522"/>
            <a:ext cx="2146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highlight>
                  <a:srgbClr val="FED700"/>
                </a:highlight>
              </a:rPr>
              <a:t>Divisi </a:t>
            </a:r>
            <a:r>
              <a:rPr lang="en-US" sz="1400" b="1" dirty="0" err="1">
                <a:highlight>
                  <a:srgbClr val="FED700"/>
                </a:highlight>
              </a:rPr>
              <a:t>terkait</a:t>
            </a:r>
            <a:endParaRPr lang="en-ID" sz="1400" b="1" dirty="0">
              <a:highlight>
                <a:srgbClr val="FED700"/>
              </a:highlight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85BE22-D7D1-7DA0-3065-207F529BE491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4495165" y="302568"/>
            <a:ext cx="6941503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10735A2-8D9E-39DD-AE7D-F844EE24BB38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342900" y="302568"/>
            <a:ext cx="1304290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6724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452B4-D065-02A8-85B4-F996EA8E3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rocery store Color Palette">
            <a:extLst>
              <a:ext uri="{FF2B5EF4-FFF2-40B4-BE49-F238E27FC236}">
                <a16:creationId xmlns:a16="http://schemas.microsoft.com/office/drawing/2014/main" id="{3D12DBB3-CDA0-4036-EECC-B229FD46E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6900" y="0"/>
            <a:ext cx="1676400" cy="111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26 Grocery Store Color Palettes">
            <a:extLst>
              <a:ext uri="{FF2B5EF4-FFF2-40B4-BE49-F238E27FC236}">
                <a16:creationId xmlns:a16="http://schemas.microsoft.com/office/drawing/2014/main" id="{F491CF05-A3E6-0F3D-6E1E-1118BC999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1225" y="1420972"/>
            <a:ext cx="1616076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hopping Color Palette">
            <a:extLst>
              <a:ext uri="{FF2B5EF4-FFF2-40B4-BE49-F238E27FC236}">
                <a16:creationId xmlns:a16="http://schemas.microsoft.com/office/drawing/2014/main" id="{AE003591-526E-00E1-A2B6-97613F1D3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10223" y="2430780"/>
            <a:ext cx="1919723" cy="127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68E277-94B2-BF54-969C-6DF033613F3F}"/>
              </a:ext>
            </a:extLst>
          </p:cNvPr>
          <p:cNvSpPr txBox="1"/>
          <p:nvPr/>
        </p:nvSpPr>
        <p:spPr>
          <a:xfrm>
            <a:off x="1647190" y="71735"/>
            <a:ext cx="2266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FFC000"/>
                </a:solidFill>
                <a:highlight>
                  <a:srgbClr val="000000"/>
                </a:highlight>
              </a:rPr>
              <a:t>Informasi</a:t>
            </a:r>
            <a:r>
              <a:rPr lang="en-US" sz="2400" b="1" dirty="0">
                <a:solidFill>
                  <a:srgbClr val="FFC000"/>
                </a:solidFill>
                <a:highlight>
                  <a:srgbClr val="000000"/>
                </a:highlight>
              </a:rPr>
              <a:t> Data</a:t>
            </a:r>
            <a:endParaRPr lang="en-ID" sz="2400" b="1" dirty="0">
              <a:solidFill>
                <a:srgbClr val="FFC000"/>
              </a:solidFill>
              <a:highlight>
                <a:srgbClr val="000000"/>
              </a:highlight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B82F06-F8D8-D2AA-F76C-0B92D9C45CB7}"/>
              </a:ext>
            </a:extLst>
          </p:cNvPr>
          <p:cNvSpPr/>
          <p:nvPr/>
        </p:nvSpPr>
        <p:spPr>
          <a:xfrm>
            <a:off x="1647190" y="6604000"/>
            <a:ext cx="1950720" cy="254000"/>
          </a:xfrm>
          <a:prstGeom prst="rect">
            <a:avLst/>
          </a:prstGeom>
          <a:solidFill>
            <a:srgbClr val="F0E78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tx1"/>
                </a:solidFill>
              </a:rPr>
              <a:t>Pandangan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b="1">
                <a:solidFill>
                  <a:schemeClr val="tx1"/>
                </a:solidFill>
              </a:rPr>
              <a:t>Umum Bisnis</a:t>
            </a:r>
            <a:endParaRPr lang="en-ID" sz="1200" b="1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E6755DE-8553-5F6B-366F-1E50FBD095AD}"/>
              </a:ext>
            </a:extLst>
          </p:cNvPr>
          <p:cNvSpPr/>
          <p:nvPr/>
        </p:nvSpPr>
        <p:spPr>
          <a:xfrm>
            <a:off x="3994997" y="6604000"/>
            <a:ext cx="2420620" cy="25400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tx1"/>
                </a:solidFill>
              </a:rPr>
              <a:t>Pemahaman</a:t>
            </a:r>
            <a:r>
              <a:rPr lang="en-US" sz="1200" b="1" dirty="0">
                <a:solidFill>
                  <a:schemeClr val="tx1"/>
                </a:solidFill>
              </a:rPr>
              <a:t> dan </a:t>
            </a:r>
            <a:r>
              <a:rPr lang="en-US" sz="1200" b="1" err="1">
                <a:solidFill>
                  <a:schemeClr val="tx1"/>
                </a:solidFill>
              </a:rPr>
              <a:t>Rekayasa</a:t>
            </a:r>
            <a:r>
              <a:rPr lang="en-US" sz="1200" b="1">
                <a:solidFill>
                  <a:schemeClr val="tx1"/>
                </a:solidFill>
              </a:rPr>
              <a:t> Data</a:t>
            </a:r>
            <a:endParaRPr lang="en-ID" sz="1200" b="1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22C9C1-1B42-4E07-9F25-0A3EB256E33B}"/>
              </a:ext>
            </a:extLst>
          </p:cNvPr>
          <p:cNvSpPr/>
          <p:nvPr/>
        </p:nvSpPr>
        <p:spPr>
          <a:xfrm>
            <a:off x="6812704" y="6604000"/>
            <a:ext cx="2420620" cy="254000"/>
          </a:xfrm>
          <a:prstGeom prst="rect">
            <a:avLst/>
          </a:prstGeom>
          <a:solidFill>
            <a:srgbClr val="F0E78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Exploratory Data Analysis</a:t>
            </a:r>
            <a:endParaRPr lang="en-ID" sz="1200" b="1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03D224A-8CD8-AE0F-8BE1-B51175CBF8BF}"/>
              </a:ext>
            </a:extLst>
          </p:cNvPr>
          <p:cNvSpPr/>
          <p:nvPr/>
        </p:nvSpPr>
        <p:spPr>
          <a:xfrm>
            <a:off x="9630410" y="6604000"/>
            <a:ext cx="914400" cy="254000"/>
          </a:xfrm>
          <a:prstGeom prst="rect">
            <a:avLst/>
          </a:prstGeom>
          <a:solidFill>
            <a:srgbClr val="F0E78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Closing</a:t>
            </a:r>
            <a:endParaRPr lang="en-ID" sz="1200" b="1" dirty="0">
              <a:solidFill>
                <a:schemeClr val="tx1"/>
              </a:solidFill>
            </a:endParaRPr>
          </a:p>
        </p:txBody>
      </p:sp>
      <p:sp>
        <p:nvSpPr>
          <p:cNvPr id="2071" name="Flowchart: Connector 2070">
            <a:extLst>
              <a:ext uri="{FF2B5EF4-FFF2-40B4-BE49-F238E27FC236}">
                <a16:creationId xmlns:a16="http://schemas.microsoft.com/office/drawing/2014/main" id="{610F555E-DDB5-7C10-E28D-0CCD90C317CB}"/>
              </a:ext>
            </a:extLst>
          </p:cNvPr>
          <p:cNvSpPr/>
          <p:nvPr/>
        </p:nvSpPr>
        <p:spPr>
          <a:xfrm>
            <a:off x="11968163" y="6634163"/>
            <a:ext cx="223837" cy="223837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4</a:t>
            </a:r>
            <a:endParaRPr lang="en-ID" sz="1200" dirty="0">
              <a:solidFill>
                <a:schemeClr val="tx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E25679-1602-293B-7CCD-9FA036E8B622}"/>
              </a:ext>
            </a:extLst>
          </p:cNvPr>
          <p:cNvCxnSpPr>
            <a:stCxn id="3" idx="3"/>
          </p:cNvCxnSpPr>
          <p:nvPr/>
        </p:nvCxnSpPr>
        <p:spPr>
          <a:xfrm flipV="1">
            <a:off x="3914140" y="302567"/>
            <a:ext cx="7868285" cy="1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E57EB3A-9F47-4B25-C9FA-FB666B798116}"/>
              </a:ext>
            </a:extLst>
          </p:cNvPr>
          <p:cNvCxnSpPr>
            <a:stCxn id="3" idx="1"/>
          </p:cNvCxnSpPr>
          <p:nvPr/>
        </p:nvCxnSpPr>
        <p:spPr>
          <a:xfrm flipH="1" flipV="1">
            <a:off x="342900" y="302567"/>
            <a:ext cx="1304290" cy="1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E8044DC5-F49A-48BB-DD47-367254280C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7739654"/>
              </p:ext>
            </p:extLst>
          </p:nvPr>
        </p:nvGraphicFramePr>
        <p:xfrm>
          <a:off x="512763" y="1117600"/>
          <a:ext cx="4851400" cy="172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3490031" imgH="1105057" progId="Excel.Sheet.12">
                  <p:embed/>
                </p:oleObj>
              </mc:Choice>
              <mc:Fallback>
                <p:oleObj name="Worksheet" r:id="rId5" imgW="3490031" imgH="11050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2763" y="1117600"/>
                        <a:ext cx="4851400" cy="172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2D01ABFE-75FF-953E-1113-E88807052A0F}"/>
              </a:ext>
            </a:extLst>
          </p:cNvPr>
          <p:cNvSpPr/>
          <p:nvPr/>
        </p:nvSpPr>
        <p:spPr>
          <a:xfrm>
            <a:off x="1188085" y="810746"/>
            <a:ext cx="2409825" cy="26033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Data Personal </a:t>
            </a:r>
            <a:r>
              <a:rPr lang="en-US" sz="1400" b="1" dirty="0" err="1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Konsumen</a:t>
            </a:r>
            <a:endParaRPr lang="en-ID" sz="1400" b="1" dirty="0">
              <a:solidFill>
                <a:schemeClr val="tx1"/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621CBFBD-6173-CA89-7478-50934EB782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6397470"/>
              </p:ext>
            </p:extLst>
          </p:nvPr>
        </p:nvGraphicFramePr>
        <p:xfrm>
          <a:off x="512921" y="3964303"/>
          <a:ext cx="4851242" cy="172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3505342" imgH="1287890" progId="Excel.Sheet.12">
                  <p:embed/>
                </p:oleObj>
              </mc:Choice>
              <mc:Fallback>
                <p:oleObj name="Worksheet" r:id="rId7" imgW="3505342" imgH="128789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2921" y="3964303"/>
                        <a:ext cx="4851242" cy="1728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169249EA-5EC7-743F-E967-EAEA092881A4}"/>
              </a:ext>
            </a:extLst>
          </p:cNvPr>
          <p:cNvSpPr/>
          <p:nvPr/>
        </p:nvSpPr>
        <p:spPr>
          <a:xfrm>
            <a:off x="1188085" y="3661420"/>
            <a:ext cx="2409825" cy="26033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Data </a:t>
            </a:r>
            <a:r>
              <a:rPr lang="en-US" sz="1400" b="1" dirty="0" err="1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Pembelian</a:t>
            </a:r>
            <a:r>
              <a:rPr lang="en-US" sz="1400" b="1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Konsumen</a:t>
            </a:r>
            <a:endParaRPr lang="en-ID" sz="1400" b="1" dirty="0">
              <a:solidFill>
                <a:schemeClr val="tx1"/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5A36E12E-99CF-4103-CC4C-0F87FFB491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0936189"/>
              </p:ext>
            </p:extLst>
          </p:nvPr>
        </p:nvGraphicFramePr>
        <p:xfrm>
          <a:off x="6067426" y="1253325"/>
          <a:ext cx="4533900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9" imgW="4533723" imgH="922224" progId="Excel.Sheet.12">
                  <p:embed/>
                </p:oleObj>
              </mc:Choice>
              <mc:Fallback>
                <p:oleObj name="Worksheet" r:id="rId9" imgW="4533723" imgH="92222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67426" y="1253325"/>
                        <a:ext cx="4533900" cy="922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5609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199</Words>
  <Application>Microsoft Office PowerPoint</Application>
  <PresentationFormat>Widescreen</PresentationFormat>
  <Paragraphs>67</Paragraphs>
  <Slides>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Adobe Fangsong Std R</vt:lpstr>
      <vt:lpstr>Adobe Gothic Std B</vt:lpstr>
      <vt:lpstr>Aptos</vt:lpstr>
      <vt:lpstr>Aptos Display</vt:lpstr>
      <vt:lpstr>Arial</vt:lpstr>
      <vt:lpstr>Office Theme</vt:lpstr>
      <vt:lpstr>Microsoft Excel 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rafif ananto</dc:creator>
  <cp:lastModifiedBy>rafif ananto</cp:lastModifiedBy>
  <cp:revision>1</cp:revision>
  <dcterms:created xsi:type="dcterms:W3CDTF">2025-11-03T10:43:41Z</dcterms:created>
  <dcterms:modified xsi:type="dcterms:W3CDTF">2025-11-03T18:23:37Z</dcterms:modified>
</cp:coreProperties>
</file>